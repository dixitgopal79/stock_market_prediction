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Neo Tech Bold" charset="1" panose="020B0804030504040204"/>
      <p:regular r:id="rId20"/>
    </p:embeddedFont>
    <p:embeddedFont>
      <p:font typeface="Koho Bold" charset="1" panose="00000800000000000000"/>
      <p:regular r:id="rId21"/>
    </p:embeddedFont>
    <p:embeddedFont>
      <p:font typeface="Koho"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30.png" Type="http://schemas.openxmlformats.org/officeDocument/2006/relationships/image"/><Relationship Id="rId5" Target="../media/image31.png" Type="http://schemas.openxmlformats.org/officeDocument/2006/relationships/image"/><Relationship Id="rId6" Target="../media/image3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921704" y="2422043"/>
            <a:ext cx="10169694" cy="3744315"/>
          </a:xfrm>
          <a:prstGeom prst="rect">
            <a:avLst/>
          </a:prstGeom>
        </p:spPr>
        <p:txBody>
          <a:bodyPr anchor="t" rtlCol="false" tIns="0" lIns="0" bIns="0" rIns="0">
            <a:spAutoFit/>
          </a:bodyPr>
          <a:lstStyle/>
          <a:p>
            <a:pPr algn="l" marL="0" indent="0" lvl="0">
              <a:lnSpc>
                <a:spcPts val="9427"/>
              </a:lnSpc>
            </a:pPr>
            <a:r>
              <a:rPr lang="en-US" b="true" sz="8269">
                <a:solidFill>
                  <a:srgbClr val="005FC2"/>
                </a:solidFill>
                <a:latin typeface="Neo Tech Bold"/>
                <a:ea typeface="Neo Tech Bold"/>
                <a:cs typeface="Neo Tech Bold"/>
                <a:sym typeface="Neo Tech Bold"/>
              </a:rPr>
              <a:t>STOCK MARKET PREDICTION USING MACHINE LEARNING</a:t>
            </a:r>
          </a:p>
        </p:txBody>
      </p:sp>
      <p:sp>
        <p:nvSpPr>
          <p:cNvPr name="Freeform 3" id="3"/>
          <p:cNvSpPr/>
          <p:nvPr/>
        </p:nvSpPr>
        <p:spPr>
          <a:xfrm flipH="true" flipV="false" rot="0">
            <a:off x="13499617" y="-3375063"/>
            <a:ext cx="7161170" cy="10230243"/>
          </a:xfrm>
          <a:custGeom>
            <a:avLst/>
            <a:gdLst/>
            <a:ahLst/>
            <a:cxnLst/>
            <a:rect r="r" b="b" t="t" l="l"/>
            <a:pathLst>
              <a:path h="10230243" w="7161170">
                <a:moveTo>
                  <a:pt x="7161170" y="0"/>
                </a:moveTo>
                <a:lnTo>
                  <a:pt x="0" y="0"/>
                </a:lnTo>
                <a:lnTo>
                  <a:pt x="0" y="10230242"/>
                </a:lnTo>
                <a:lnTo>
                  <a:pt x="7161170" y="10230242"/>
                </a:lnTo>
                <a:lnTo>
                  <a:pt x="716117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921704" y="6938471"/>
            <a:ext cx="10738439" cy="504238"/>
          </a:xfrm>
          <a:prstGeom prst="rect">
            <a:avLst/>
          </a:prstGeom>
        </p:spPr>
        <p:txBody>
          <a:bodyPr anchor="t" rtlCol="false" tIns="0" lIns="0" bIns="0" rIns="0">
            <a:spAutoFit/>
          </a:bodyPr>
          <a:lstStyle/>
          <a:p>
            <a:pPr algn="l" marL="0" indent="0" lvl="0">
              <a:lnSpc>
                <a:spcPts val="3947"/>
              </a:lnSpc>
            </a:pPr>
            <a:r>
              <a:rPr lang="en-US" b="true" sz="3462">
                <a:solidFill>
                  <a:srgbClr val="005FC2"/>
                </a:solidFill>
                <a:latin typeface="Koho Bold"/>
                <a:ea typeface="Koho Bold"/>
                <a:cs typeface="Koho Bold"/>
                <a:sym typeface="Koho Bold"/>
              </a:rPr>
              <a:t>Reliance Stock Analysis (2020–2024) — MCA Project</a:t>
            </a:r>
          </a:p>
        </p:txBody>
      </p:sp>
      <p:sp>
        <p:nvSpPr>
          <p:cNvPr name="Freeform 5" id="5"/>
          <p:cNvSpPr/>
          <p:nvPr/>
        </p:nvSpPr>
        <p:spPr>
          <a:xfrm flipH="false" flipV="true" rot="-151067">
            <a:off x="-1812924" y="4400378"/>
            <a:ext cx="7161170" cy="10230243"/>
          </a:xfrm>
          <a:custGeom>
            <a:avLst/>
            <a:gdLst/>
            <a:ahLst/>
            <a:cxnLst/>
            <a:rect r="r" b="b" t="t" l="l"/>
            <a:pathLst>
              <a:path h="10230243" w="7161170">
                <a:moveTo>
                  <a:pt x="0" y="10230242"/>
                </a:moveTo>
                <a:lnTo>
                  <a:pt x="7161170" y="10230242"/>
                </a:lnTo>
                <a:lnTo>
                  <a:pt x="7161170" y="0"/>
                </a:lnTo>
                <a:lnTo>
                  <a:pt x="0" y="0"/>
                </a:lnTo>
                <a:lnTo>
                  <a:pt x="0" y="1023024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25238" y="-1294162"/>
            <a:ext cx="7793442" cy="4080930"/>
          </a:xfrm>
          <a:custGeom>
            <a:avLst/>
            <a:gdLst/>
            <a:ahLst/>
            <a:cxnLst/>
            <a:rect r="r" b="b" t="t" l="l"/>
            <a:pathLst>
              <a:path h="4080930" w="7793442">
                <a:moveTo>
                  <a:pt x="0" y="0"/>
                </a:moveTo>
                <a:lnTo>
                  <a:pt x="7793442" y="0"/>
                </a:lnTo>
                <a:lnTo>
                  <a:pt x="7793442" y="4080930"/>
                </a:lnTo>
                <a:lnTo>
                  <a:pt x="0" y="4080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494558" y="7817332"/>
            <a:ext cx="7793442" cy="4080930"/>
          </a:xfrm>
          <a:custGeom>
            <a:avLst/>
            <a:gdLst/>
            <a:ahLst/>
            <a:cxnLst/>
            <a:rect r="r" b="b" t="t" l="l"/>
            <a:pathLst>
              <a:path h="4080930" w="7793442">
                <a:moveTo>
                  <a:pt x="0" y="0"/>
                </a:moveTo>
                <a:lnTo>
                  <a:pt x="7793442" y="0"/>
                </a:lnTo>
                <a:lnTo>
                  <a:pt x="7793442" y="4080930"/>
                </a:lnTo>
                <a:lnTo>
                  <a:pt x="0" y="4080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614835" y="2058343"/>
            <a:ext cx="10894849" cy="1238210"/>
          </a:xfrm>
          <a:prstGeom prst="rect">
            <a:avLst/>
          </a:prstGeom>
        </p:spPr>
        <p:txBody>
          <a:bodyPr anchor="t" rtlCol="false" tIns="0" lIns="0" bIns="0" rIns="0">
            <a:spAutoFit/>
          </a:bodyPr>
          <a:lstStyle/>
          <a:p>
            <a:pPr algn="l" marL="0" indent="0" lvl="0">
              <a:lnSpc>
                <a:spcPts val="8543"/>
              </a:lnSpc>
            </a:pPr>
            <a:r>
              <a:rPr lang="en-US" b="true" sz="7494">
                <a:solidFill>
                  <a:srgbClr val="005FC2"/>
                </a:solidFill>
                <a:latin typeface="Neo Tech Bold"/>
                <a:ea typeface="Neo Tech Bold"/>
                <a:cs typeface="Neo Tech Bold"/>
                <a:sym typeface="Neo Tech Bold"/>
              </a:rPr>
              <a:t>INTRODUCTION</a:t>
            </a:r>
          </a:p>
        </p:txBody>
      </p:sp>
      <p:sp>
        <p:nvSpPr>
          <p:cNvPr name="TextBox 3" id="3"/>
          <p:cNvSpPr txBox="true"/>
          <p:nvPr/>
        </p:nvSpPr>
        <p:spPr>
          <a:xfrm rot="0">
            <a:off x="5614835" y="3888961"/>
            <a:ext cx="10894849" cy="4297711"/>
          </a:xfrm>
          <a:prstGeom prst="rect">
            <a:avLst/>
          </a:prstGeom>
        </p:spPr>
        <p:txBody>
          <a:bodyPr anchor="t" rtlCol="false" tIns="0" lIns="0" bIns="0" rIns="0">
            <a:spAutoFit/>
          </a:bodyPr>
          <a:lstStyle/>
          <a:p>
            <a:pPr algn="l" marL="0" indent="0" lvl="0">
              <a:lnSpc>
                <a:spcPts val="3139"/>
              </a:lnSpc>
            </a:pPr>
            <a:r>
              <a:rPr lang="en-US" sz="2754">
                <a:solidFill>
                  <a:srgbClr val="005FC2"/>
                </a:solidFill>
                <a:latin typeface="Koho"/>
                <a:ea typeface="Koho"/>
                <a:cs typeface="Koho"/>
                <a:sym typeface="Koho"/>
              </a:rPr>
              <a:t>Stock prices fluctuate daily, influenced by numerous factors including market sentiment, economic indicators, company performance, and global events. This volatility makes the stock market both an opportunity and a challenge for investors.</a:t>
            </a:r>
          </a:p>
          <a:p>
            <a:pPr algn="l" marL="0" indent="0" lvl="0">
              <a:lnSpc>
                <a:spcPts val="3139"/>
              </a:lnSpc>
            </a:pPr>
            <a:r>
              <a:rPr lang="en-US" sz="2754">
                <a:solidFill>
                  <a:srgbClr val="005FC2"/>
                </a:solidFill>
                <a:latin typeface="Koho"/>
                <a:ea typeface="Koho"/>
                <a:cs typeface="Koho"/>
                <a:sym typeface="Koho"/>
              </a:rPr>
              <a:t>Accurate stock price prediction is crucial for making informed investment decisions. When investors can anticipate market movements, they can optimize their portfolios, minimize risks, and maximize returns.</a:t>
            </a:r>
          </a:p>
          <a:p>
            <a:pPr algn="l" marL="0" indent="0" lvl="0">
              <a:lnSpc>
                <a:spcPts val="3139"/>
              </a:lnSpc>
            </a:pPr>
            <a:r>
              <a:rPr lang="en-US" sz="2754">
                <a:solidFill>
                  <a:srgbClr val="005FC2"/>
                </a:solidFill>
                <a:latin typeface="Koho"/>
                <a:ea typeface="Koho"/>
                <a:cs typeface="Koho"/>
                <a:sym typeface="Koho"/>
              </a:rPr>
              <a:t>However, predicting stock prices remains inherently challenging due to the complex interplay of countless variables. Traditional analysis methods often fall short in capturing these intricate patterns, creating a need for more sophisticated approaches like machine learning.</a:t>
            </a:r>
          </a:p>
        </p:txBody>
      </p:sp>
      <p:sp>
        <p:nvSpPr>
          <p:cNvPr name="Freeform 4" id="4"/>
          <p:cNvSpPr/>
          <p:nvPr/>
        </p:nvSpPr>
        <p:spPr>
          <a:xfrm flipH="false" flipV="false" rot="-5400000">
            <a:off x="-8297184" y="-3074714"/>
            <a:ext cx="13507295" cy="13889249"/>
          </a:xfrm>
          <a:custGeom>
            <a:avLst/>
            <a:gdLst/>
            <a:ahLst/>
            <a:cxnLst/>
            <a:rect r="r" b="b" t="t" l="l"/>
            <a:pathLst>
              <a:path h="13889249" w="13507295">
                <a:moveTo>
                  <a:pt x="0" y="0"/>
                </a:moveTo>
                <a:lnTo>
                  <a:pt x="13507295" y="0"/>
                </a:lnTo>
                <a:lnTo>
                  <a:pt x="13507295" y="13889249"/>
                </a:lnTo>
                <a:lnTo>
                  <a:pt x="0" y="13889249"/>
                </a:lnTo>
                <a:lnTo>
                  <a:pt x="0"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696575" y="1488837"/>
            <a:ext cx="10894849" cy="1238210"/>
          </a:xfrm>
          <a:prstGeom prst="rect">
            <a:avLst/>
          </a:prstGeom>
        </p:spPr>
        <p:txBody>
          <a:bodyPr anchor="t" rtlCol="false" tIns="0" lIns="0" bIns="0" rIns="0">
            <a:spAutoFit/>
          </a:bodyPr>
          <a:lstStyle/>
          <a:p>
            <a:pPr algn="ctr" marL="0" indent="0" lvl="0">
              <a:lnSpc>
                <a:spcPts val="8543"/>
              </a:lnSpc>
            </a:pPr>
            <a:r>
              <a:rPr lang="en-US" b="true" sz="7494">
                <a:solidFill>
                  <a:srgbClr val="005FC2"/>
                </a:solidFill>
                <a:latin typeface="Neo Tech Bold"/>
                <a:ea typeface="Neo Tech Bold"/>
                <a:cs typeface="Neo Tech Bold"/>
                <a:sym typeface="Neo Tech Bold"/>
              </a:rPr>
              <a:t>PROBLEM STATEMENT</a:t>
            </a:r>
          </a:p>
        </p:txBody>
      </p:sp>
      <p:sp>
        <p:nvSpPr>
          <p:cNvPr name="TextBox 3" id="3"/>
          <p:cNvSpPr txBox="true"/>
          <p:nvPr/>
        </p:nvSpPr>
        <p:spPr>
          <a:xfrm rot="0">
            <a:off x="5403738" y="3309309"/>
            <a:ext cx="8868773" cy="2393046"/>
          </a:xfrm>
          <a:prstGeom prst="rect">
            <a:avLst/>
          </a:prstGeom>
        </p:spPr>
        <p:txBody>
          <a:bodyPr anchor="t" rtlCol="false" tIns="0" lIns="0" bIns="0" rIns="0">
            <a:spAutoFit/>
          </a:bodyPr>
          <a:lstStyle/>
          <a:p>
            <a:pPr algn="just" marL="0" indent="0" lvl="0">
              <a:lnSpc>
                <a:spcPts val="3189"/>
              </a:lnSpc>
            </a:pPr>
            <a:r>
              <a:rPr lang="en-US" sz="2798">
                <a:solidFill>
                  <a:srgbClr val="005FC2"/>
                </a:solidFill>
                <a:latin typeface="Koho"/>
                <a:ea typeface="Koho"/>
                <a:cs typeface="Koho"/>
                <a:sym typeface="Koho"/>
              </a:rPr>
              <a:t>Stock prices are highly volatile and unpredictable, influenced by countless factors including market sentiment, economic indicators, and global events. Manual analysis and predictions are time-consuming, prone to human bias, and often inaccurate due to the sheer complexity of financial markets.</a:t>
            </a:r>
          </a:p>
        </p:txBody>
      </p:sp>
      <p:sp>
        <p:nvSpPr>
          <p:cNvPr name="Freeform 4" id="4"/>
          <p:cNvSpPr/>
          <p:nvPr/>
        </p:nvSpPr>
        <p:spPr>
          <a:xfrm flipH="false" flipV="false" rot="-7720815">
            <a:off x="-5386022" y="5635688"/>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8367064">
            <a:off x="10341117" y="-1585888"/>
            <a:ext cx="13836366" cy="7245224"/>
          </a:xfrm>
          <a:custGeom>
            <a:avLst/>
            <a:gdLst/>
            <a:ahLst/>
            <a:cxnLst/>
            <a:rect r="r" b="b" t="t" l="l"/>
            <a:pathLst>
              <a:path h="7245224" w="13836366">
                <a:moveTo>
                  <a:pt x="13836366" y="0"/>
                </a:moveTo>
                <a:lnTo>
                  <a:pt x="0" y="0"/>
                </a:lnTo>
                <a:lnTo>
                  <a:pt x="0" y="7245225"/>
                </a:lnTo>
                <a:lnTo>
                  <a:pt x="13836366" y="7245225"/>
                </a:lnTo>
                <a:lnTo>
                  <a:pt x="1383636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015489" y="4017828"/>
            <a:ext cx="947448" cy="947448"/>
          </a:xfrm>
          <a:custGeom>
            <a:avLst/>
            <a:gdLst/>
            <a:ahLst/>
            <a:cxnLst/>
            <a:rect r="r" b="b" t="t" l="l"/>
            <a:pathLst>
              <a:path h="947448" w="947448">
                <a:moveTo>
                  <a:pt x="0" y="0"/>
                </a:moveTo>
                <a:lnTo>
                  <a:pt x="947448" y="0"/>
                </a:lnTo>
                <a:lnTo>
                  <a:pt x="947448" y="947448"/>
                </a:lnTo>
                <a:lnTo>
                  <a:pt x="0" y="9474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5476496" y="6407220"/>
            <a:ext cx="8868773" cy="1992996"/>
          </a:xfrm>
          <a:prstGeom prst="rect">
            <a:avLst/>
          </a:prstGeom>
        </p:spPr>
        <p:txBody>
          <a:bodyPr anchor="t" rtlCol="false" tIns="0" lIns="0" bIns="0" rIns="0">
            <a:spAutoFit/>
          </a:bodyPr>
          <a:lstStyle/>
          <a:p>
            <a:pPr algn="just" marL="0" indent="0" lvl="0">
              <a:lnSpc>
                <a:spcPts val="3189"/>
              </a:lnSpc>
            </a:pPr>
            <a:r>
              <a:rPr lang="en-US" sz="2798">
                <a:solidFill>
                  <a:srgbClr val="005FC2"/>
                </a:solidFill>
                <a:latin typeface="Koho"/>
                <a:ea typeface="Koho"/>
                <a:cs typeface="Koho"/>
                <a:sym typeface="Koho"/>
              </a:rPr>
              <a:t>Traditional forecasting methods struggle to capture the non-linear patterns in stock data. There is a clear need for automated, data-driven approaches using machine learning models that can analyze large datasets and identify hidden patterns to improve prediction accuracy.</a:t>
            </a:r>
          </a:p>
        </p:txBody>
      </p:sp>
      <p:sp>
        <p:nvSpPr>
          <p:cNvPr name="Freeform 8" id="8"/>
          <p:cNvSpPr/>
          <p:nvPr/>
        </p:nvSpPr>
        <p:spPr>
          <a:xfrm flipH="false" flipV="false" rot="0">
            <a:off x="4088248" y="7115739"/>
            <a:ext cx="947448" cy="947448"/>
          </a:xfrm>
          <a:custGeom>
            <a:avLst/>
            <a:gdLst/>
            <a:ahLst/>
            <a:cxnLst/>
            <a:rect r="r" b="b" t="t" l="l"/>
            <a:pathLst>
              <a:path h="947448" w="947448">
                <a:moveTo>
                  <a:pt x="0" y="0"/>
                </a:moveTo>
                <a:lnTo>
                  <a:pt x="947448" y="0"/>
                </a:lnTo>
                <a:lnTo>
                  <a:pt x="947448" y="947448"/>
                </a:lnTo>
                <a:lnTo>
                  <a:pt x="0" y="9474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953809" y="1685119"/>
            <a:ext cx="10894849" cy="1238210"/>
          </a:xfrm>
          <a:prstGeom prst="rect">
            <a:avLst/>
          </a:prstGeom>
        </p:spPr>
        <p:txBody>
          <a:bodyPr anchor="t" rtlCol="false" tIns="0" lIns="0" bIns="0" rIns="0">
            <a:spAutoFit/>
          </a:bodyPr>
          <a:lstStyle/>
          <a:p>
            <a:pPr algn="ctr" marL="0" indent="0" lvl="0">
              <a:lnSpc>
                <a:spcPts val="8543"/>
              </a:lnSpc>
            </a:pPr>
            <a:r>
              <a:rPr lang="en-US" b="true" sz="7494">
                <a:solidFill>
                  <a:srgbClr val="005FC2"/>
                </a:solidFill>
                <a:latin typeface="Neo Tech Bold"/>
                <a:ea typeface="Neo Tech Bold"/>
                <a:cs typeface="Neo Tech Bold"/>
                <a:sym typeface="Neo Tech Bold"/>
              </a:rPr>
              <a:t>DATASET OVERVIEW</a:t>
            </a:r>
          </a:p>
        </p:txBody>
      </p:sp>
      <p:sp>
        <p:nvSpPr>
          <p:cNvPr name="TextBox 3" id="3"/>
          <p:cNvSpPr txBox="true"/>
          <p:nvPr/>
        </p:nvSpPr>
        <p:spPr>
          <a:xfrm rot="0">
            <a:off x="7642726" y="5265039"/>
            <a:ext cx="4230126" cy="3193161"/>
          </a:xfrm>
          <a:prstGeom prst="rect">
            <a:avLst/>
          </a:prstGeom>
        </p:spPr>
        <p:txBody>
          <a:bodyPr anchor="t" rtlCol="false" tIns="0" lIns="0" bIns="0" rIns="0">
            <a:spAutoFit/>
          </a:bodyPr>
          <a:lstStyle/>
          <a:p>
            <a:pPr algn="l" marL="0" indent="0" lvl="0">
              <a:lnSpc>
                <a:spcPts val="3191"/>
              </a:lnSpc>
            </a:pPr>
            <a:r>
              <a:rPr lang="en-US" sz="2799">
                <a:solidFill>
                  <a:srgbClr val="005FC2"/>
                </a:solidFill>
                <a:latin typeface="Koho"/>
                <a:ea typeface="Koho"/>
                <a:cs typeface="Koho"/>
                <a:sym typeface="Koho"/>
              </a:rPr>
              <a:t>Total Records: 992</a:t>
            </a:r>
          </a:p>
          <a:p>
            <a:pPr algn="l" marL="0" indent="0" lvl="0">
              <a:lnSpc>
                <a:spcPts val="3191"/>
              </a:lnSpc>
            </a:pPr>
            <a:r>
              <a:rPr lang="en-US" sz="2799">
                <a:solidFill>
                  <a:srgbClr val="005FC2"/>
                </a:solidFill>
                <a:latin typeface="Koho"/>
                <a:ea typeface="Koho"/>
                <a:cs typeface="Koho"/>
                <a:sym typeface="Koho"/>
              </a:rPr>
              <a:t>Daily trading data spanning from 2020 to 2024, providing comprehensive historical coverage for training and testing machine learning models.</a:t>
            </a:r>
          </a:p>
        </p:txBody>
      </p:sp>
      <p:sp>
        <p:nvSpPr>
          <p:cNvPr name="Freeform 4" id="4"/>
          <p:cNvSpPr/>
          <p:nvPr/>
        </p:nvSpPr>
        <p:spPr>
          <a:xfrm flipH="true" flipV="false" rot="0">
            <a:off x="-3207360" y="-5086743"/>
            <a:ext cx="7161170" cy="10230243"/>
          </a:xfrm>
          <a:custGeom>
            <a:avLst/>
            <a:gdLst/>
            <a:ahLst/>
            <a:cxnLst/>
            <a:rect r="r" b="b" t="t" l="l"/>
            <a:pathLst>
              <a:path h="10230243" w="7161170">
                <a:moveTo>
                  <a:pt x="7161169" y="0"/>
                </a:moveTo>
                <a:lnTo>
                  <a:pt x="0" y="0"/>
                </a:lnTo>
                <a:lnTo>
                  <a:pt x="0" y="10230243"/>
                </a:lnTo>
                <a:lnTo>
                  <a:pt x="7161169" y="10230243"/>
                </a:lnTo>
                <a:lnTo>
                  <a:pt x="716116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3885569">
            <a:off x="15560500" y="4143179"/>
            <a:ext cx="7161170" cy="10230243"/>
          </a:xfrm>
          <a:custGeom>
            <a:avLst/>
            <a:gdLst/>
            <a:ahLst/>
            <a:cxnLst/>
            <a:rect r="r" b="b" t="t" l="l"/>
            <a:pathLst>
              <a:path h="10230243" w="7161170">
                <a:moveTo>
                  <a:pt x="7161169" y="0"/>
                </a:moveTo>
                <a:lnTo>
                  <a:pt x="0" y="0"/>
                </a:lnTo>
                <a:lnTo>
                  <a:pt x="0" y="10230242"/>
                </a:lnTo>
                <a:lnTo>
                  <a:pt x="7161169" y="10230242"/>
                </a:lnTo>
                <a:lnTo>
                  <a:pt x="716116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2229407" y="3866959"/>
            <a:ext cx="4656668" cy="2393061"/>
          </a:xfrm>
          <a:prstGeom prst="rect">
            <a:avLst/>
          </a:prstGeom>
        </p:spPr>
        <p:txBody>
          <a:bodyPr anchor="t" rtlCol="false" tIns="0" lIns="0" bIns="0" rIns="0">
            <a:spAutoFit/>
          </a:bodyPr>
          <a:lstStyle/>
          <a:p>
            <a:pPr algn="l" marL="0" indent="0" lvl="0">
              <a:lnSpc>
                <a:spcPts val="3191"/>
              </a:lnSpc>
            </a:pPr>
            <a:r>
              <a:rPr lang="en-US" sz="2799">
                <a:solidFill>
                  <a:srgbClr val="005FC2"/>
                </a:solidFill>
                <a:latin typeface="Koho"/>
                <a:ea typeface="Koho"/>
                <a:cs typeface="Koho"/>
                <a:sym typeface="Koho"/>
              </a:rPr>
              <a:t>Key Features:</a:t>
            </a:r>
          </a:p>
          <a:p>
            <a:pPr algn="l" marL="0" indent="0" lvl="0">
              <a:lnSpc>
                <a:spcPts val="3191"/>
              </a:lnSpc>
            </a:pPr>
            <a:r>
              <a:rPr lang="en-US" sz="2799">
                <a:solidFill>
                  <a:srgbClr val="005FC2"/>
                </a:solidFill>
                <a:latin typeface="Koho"/>
                <a:ea typeface="Koho"/>
                <a:cs typeface="Koho"/>
                <a:sym typeface="Koho"/>
              </a:rPr>
              <a:t>Open Price, High Price, Low Price, Close Price, and Volume Traded — essential metrics for stock price prediction analysis.</a:t>
            </a:r>
          </a:p>
        </p:txBody>
      </p:sp>
      <p:sp>
        <p:nvSpPr>
          <p:cNvPr name="TextBox 7" id="7"/>
          <p:cNvSpPr txBox="true"/>
          <p:nvPr/>
        </p:nvSpPr>
        <p:spPr>
          <a:xfrm rot="0">
            <a:off x="2629502" y="3866959"/>
            <a:ext cx="4656668" cy="1993011"/>
          </a:xfrm>
          <a:prstGeom prst="rect">
            <a:avLst/>
          </a:prstGeom>
        </p:spPr>
        <p:txBody>
          <a:bodyPr anchor="t" rtlCol="false" tIns="0" lIns="0" bIns="0" rIns="0">
            <a:spAutoFit/>
          </a:bodyPr>
          <a:lstStyle/>
          <a:p>
            <a:pPr algn="l" marL="0" indent="0" lvl="0">
              <a:lnSpc>
                <a:spcPts val="3191"/>
              </a:lnSpc>
            </a:pPr>
            <a:r>
              <a:rPr lang="en-US" sz="2799">
                <a:solidFill>
                  <a:srgbClr val="005FC2"/>
                </a:solidFill>
                <a:latin typeface="Koho"/>
                <a:ea typeface="Koho"/>
                <a:cs typeface="Koho"/>
                <a:sym typeface="Koho"/>
              </a:rPr>
              <a:t>Data Source: Yahoo Finance</a:t>
            </a:r>
          </a:p>
          <a:p>
            <a:pPr algn="l" marL="0" indent="0" lvl="0">
              <a:lnSpc>
                <a:spcPts val="3191"/>
              </a:lnSpc>
            </a:pPr>
            <a:r>
              <a:rPr lang="en-US" sz="2799">
                <a:solidFill>
                  <a:srgbClr val="005FC2"/>
                </a:solidFill>
                <a:latin typeface="Koho"/>
                <a:ea typeface="Koho"/>
                <a:cs typeface="Koho"/>
                <a:sym typeface="Koho"/>
              </a:rPr>
              <a:t>Focus: Reliance Industries Limited (RELIANCE.NS), one of India's largest publicly traded companies.</a:t>
            </a:r>
          </a:p>
        </p:txBody>
      </p:sp>
      <p:sp>
        <p:nvSpPr>
          <p:cNvPr name="Freeform 8" id="8"/>
          <p:cNvSpPr/>
          <p:nvPr/>
        </p:nvSpPr>
        <p:spPr>
          <a:xfrm flipH="false" flipV="false" rot="0">
            <a:off x="3953809" y="7660195"/>
            <a:ext cx="679170" cy="679170"/>
          </a:xfrm>
          <a:custGeom>
            <a:avLst/>
            <a:gdLst/>
            <a:ahLst/>
            <a:cxnLst/>
            <a:rect r="r" b="b" t="t" l="l"/>
            <a:pathLst>
              <a:path h="679170" w="679170">
                <a:moveTo>
                  <a:pt x="0" y="0"/>
                </a:moveTo>
                <a:lnTo>
                  <a:pt x="679170" y="0"/>
                </a:lnTo>
                <a:lnTo>
                  <a:pt x="679170" y="679170"/>
                </a:lnTo>
                <a:lnTo>
                  <a:pt x="0" y="6791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509074" y="7660195"/>
            <a:ext cx="679170" cy="679170"/>
          </a:xfrm>
          <a:custGeom>
            <a:avLst/>
            <a:gdLst/>
            <a:ahLst/>
            <a:cxnLst/>
            <a:rect r="r" b="b" t="t" l="l"/>
            <a:pathLst>
              <a:path h="679170" w="679170">
                <a:moveTo>
                  <a:pt x="0" y="0"/>
                </a:moveTo>
                <a:lnTo>
                  <a:pt x="679169" y="0"/>
                </a:lnTo>
                <a:lnTo>
                  <a:pt x="679169" y="679170"/>
                </a:lnTo>
                <a:lnTo>
                  <a:pt x="0" y="6791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9061649" y="4391102"/>
            <a:ext cx="679170" cy="679170"/>
          </a:xfrm>
          <a:custGeom>
            <a:avLst/>
            <a:gdLst/>
            <a:ahLst/>
            <a:cxnLst/>
            <a:rect r="r" b="b" t="t" l="l"/>
            <a:pathLst>
              <a:path h="679170" w="679170">
                <a:moveTo>
                  <a:pt x="0" y="0"/>
                </a:moveTo>
                <a:lnTo>
                  <a:pt x="679170" y="0"/>
                </a:lnTo>
                <a:lnTo>
                  <a:pt x="679170" y="679169"/>
                </a:lnTo>
                <a:lnTo>
                  <a:pt x="0" y="6791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5FC2"/>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7221231" y="1520888"/>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2384810" y="2397377"/>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619624" y="4488135"/>
            <a:ext cx="713287" cy="725354"/>
          </a:xfrm>
          <a:custGeom>
            <a:avLst/>
            <a:gdLst/>
            <a:ahLst/>
            <a:cxnLst/>
            <a:rect r="r" b="b" t="t" l="l"/>
            <a:pathLst>
              <a:path h="725354" w="713287">
                <a:moveTo>
                  <a:pt x="0" y="0"/>
                </a:moveTo>
                <a:lnTo>
                  <a:pt x="713288" y="0"/>
                </a:lnTo>
                <a:lnTo>
                  <a:pt x="713288" y="725354"/>
                </a:lnTo>
                <a:lnTo>
                  <a:pt x="0" y="725354"/>
                </a:lnTo>
                <a:lnTo>
                  <a:pt x="0" y="0"/>
                </a:lnTo>
                <a:close/>
              </a:path>
            </a:pathLst>
          </a:custGeom>
          <a:blipFill>
            <a:blip r:embed="rId4"/>
            <a:stretch>
              <a:fillRect l="0" t="0" r="0" b="0"/>
            </a:stretch>
          </a:blipFill>
        </p:spPr>
      </p:sp>
      <p:sp>
        <p:nvSpPr>
          <p:cNvPr name="TextBox 5" id="5"/>
          <p:cNvSpPr txBox="true"/>
          <p:nvPr/>
        </p:nvSpPr>
        <p:spPr>
          <a:xfrm rot="0">
            <a:off x="4336389" y="1587629"/>
            <a:ext cx="9615222" cy="1238250"/>
          </a:xfrm>
          <a:prstGeom prst="rect">
            <a:avLst/>
          </a:prstGeom>
        </p:spPr>
        <p:txBody>
          <a:bodyPr anchor="t" rtlCol="false" tIns="0" lIns="0" bIns="0" rIns="0">
            <a:spAutoFit/>
          </a:bodyPr>
          <a:lstStyle/>
          <a:p>
            <a:pPr algn="ctr" marL="0" indent="0" lvl="0">
              <a:lnSpc>
                <a:spcPts val="8549"/>
              </a:lnSpc>
            </a:pPr>
            <a:r>
              <a:rPr lang="en-US" b="true" sz="7500">
                <a:solidFill>
                  <a:srgbClr val="FFFFFF"/>
                </a:solidFill>
                <a:latin typeface="Neo Tech Bold"/>
                <a:ea typeface="Neo Tech Bold"/>
                <a:cs typeface="Neo Tech Bold"/>
                <a:sym typeface="Neo Tech Bold"/>
              </a:rPr>
              <a:t>TECHNOLOGIES USED</a:t>
            </a:r>
          </a:p>
        </p:txBody>
      </p:sp>
      <p:sp>
        <p:nvSpPr>
          <p:cNvPr name="TextBox 6" id="6"/>
          <p:cNvSpPr txBox="true"/>
          <p:nvPr/>
        </p:nvSpPr>
        <p:spPr>
          <a:xfrm rot="0">
            <a:off x="4813846" y="4315722"/>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Python Programming Language: The core programming language used for implementing all data processing, analysis, and machine learning algorithms in this stock prediction project.</a:t>
            </a:r>
          </a:p>
        </p:txBody>
      </p:sp>
      <p:sp>
        <p:nvSpPr>
          <p:cNvPr name="TextBox 7" id="7"/>
          <p:cNvSpPr txBox="true"/>
          <p:nvPr/>
        </p:nvSpPr>
        <p:spPr>
          <a:xfrm rot="0">
            <a:off x="4813846" y="5856350"/>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Data Manipulation Libraries: Pandas for data handling and analysis, NumPy for numerical computations and array operations essential for processing stock market data efficiently.</a:t>
            </a:r>
          </a:p>
        </p:txBody>
      </p:sp>
      <p:sp>
        <p:nvSpPr>
          <p:cNvPr name="TextBox 8" id="8"/>
          <p:cNvSpPr txBox="true"/>
          <p:nvPr/>
        </p:nvSpPr>
        <p:spPr>
          <a:xfrm rot="0">
            <a:off x="4813846" y="7401685"/>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Visualization &amp; ML Tools: Matplotlib and Seaborn for creating insightful charts and graphs. Scikit-learn for implementing machine learning models including Random Forest and KNN.</a:t>
            </a:r>
          </a:p>
        </p:txBody>
      </p:sp>
      <p:sp>
        <p:nvSpPr>
          <p:cNvPr name="Freeform 9" id="9"/>
          <p:cNvSpPr/>
          <p:nvPr/>
        </p:nvSpPr>
        <p:spPr>
          <a:xfrm flipH="false" flipV="false" rot="0">
            <a:off x="3648760" y="6053301"/>
            <a:ext cx="659324" cy="670862"/>
          </a:xfrm>
          <a:custGeom>
            <a:avLst/>
            <a:gdLst/>
            <a:ahLst/>
            <a:cxnLst/>
            <a:rect r="r" b="b" t="t" l="l"/>
            <a:pathLst>
              <a:path h="670862" w="659324">
                <a:moveTo>
                  <a:pt x="0" y="0"/>
                </a:moveTo>
                <a:lnTo>
                  <a:pt x="659324" y="0"/>
                </a:lnTo>
                <a:lnTo>
                  <a:pt x="659324" y="670862"/>
                </a:lnTo>
                <a:lnTo>
                  <a:pt x="0" y="670862"/>
                </a:lnTo>
                <a:lnTo>
                  <a:pt x="0" y="0"/>
                </a:lnTo>
                <a:close/>
              </a:path>
            </a:pathLst>
          </a:custGeom>
          <a:blipFill>
            <a:blip r:embed="rId5"/>
            <a:stretch>
              <a:fillRect l="0" t="0" r="0" b="0"/>
            </a:stretch>
          </a:blipFill>
        </p:spPr>
      </p:sp>
      <p:sp>
        <p:nvSpPr>
          <p:cNvPr name="Freeform 10" id="10"/>
          <p:cNvSpPr/>
          <p:nvPr/>
        </p:nvSpPr>
        <p:spPr>
          <a:xfrm flipH="false" flipV="false" rot="0">
            <a:off x="3671514" y="7642098"/>
            <a:ext cx="780519" cy="771649"/>
          </a:xfrm>
          <a:custGeom>
            <a:avLst/>
            <a:gdLst/>
            <a:ahLst/>
            <a:cxnLst/>
            <a:rect r="r" b="b" t="t" l="l"/>
            <a:pathLst>
              <a:path h="771649" w="780519">
                <a:moveTo>
                  <a:pt x="0" y="0"/>
                </a:moveTo>
                <a:lnTo>
                  <a:pt x="780519" y="0"/>
                </a:lnTo>
                <a:lnTo>
                  <a:pt x="780519" y="771650"/>
                </a:lnTo>
                <a:lnTo>
                  <a:pt x="0" y="771650"/>
                </a:lnTo>
                <a:lnTo>
                  <a:pt x="0" y="0"/>
                </a:lnTo>
                <a:close/>
              </a:path>
            </a:pathLst>
          </a:custGeom>
          <a:blipFill>
            <a:blip r:embed="rId6"/>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5FC2"/>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7221231" y="1520888"/>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2384810" y="2397377"/>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556742" y="4491387"/>
            <a:ext cx="837057" cy="681440"/>
          </a:xfrm>
          <a:custGeom>
            <a:avLst/>
            <a:gdLst/>
            <a:ahLst/>
            <a:cxnLst/>
            <a:rect r="r" b="b" t="t" l="l"/>
            <a:pathLst>
              <a:path h="681440" w="837057">
                <a:moveTo>
                  <a:pt x="0" y="0"/>
                </a:moveTo>
                <a:lnTo>
                  <a:pt x="837057" y="0"/>
                </a:lnTo>
                <a:lnTo>
                  <a:pt x="837057" y="681439"/>
                </a:lnTo>
                <a:lnTo>
                  <a:pt x="0" y="681439"/>
                </a:lnTo>
                <a:lnTo>
                  <a:pt x="0" y="0"/>
                </a:lnTo>
                <a:close/>
              </a:path>
            </a:pathLst>
          </a:custGeom>
          <a:blipFill>
            <a:blip r:embed="rId4"/>
            <a:stretch>
              <a:fillRect l="0" t="0" r="0" b="0"/>
            </a:stretch>
          </a:blipFill>
        </p:spPr>
      </p:sp>
      <p:sp>
        <p:nvSpPr>
          <p:cNvPr name="TextBox 5" id="5"/>
          <p:cNvSpPr txBox="true"/>
          <p:nvPr/>
        </p:nvSpPr>
        <p:spPr>
          <a:xfrm rot="0">
            <a:off x="4336389" y="1587629"/>
            <a:ext cx="9615222" cy="2314575"/>
          </a:xfrm>
          <a:prstGeom prst="rect">
            <a:avLst/>
          </a:prstGeom>
        </p:spPr>
        <p:txBody>
          <a:bodyPr anchor="t" rtlCol="false" tIns="0" lIns="0" bIns="0" rIns="0">
            <a:spAutoFit/>
          </a:bodyPr>
          <a:lstStyle/>
          <a:p>
            <a:pPr algn="ctr" marL="0" indent="0" lvl="0">
              <a:lnSpc>
                <a:spcPts val="8549"/>
              </a:lnSpc>
            </a:pPr>
            <a:r>
              <a:rPr lang="en-US" b="true" sz="7500">
                <a:solidFill>
                  <a:srgbClr val="FFFFFF"/>
                </a:solidFill>
                <a:latin typeface="Neo Tech Bold"/>
                <a:ea typeface="Neo Tech Bold"/>
                <a:cs typeface="Neo Tech Bold"/>
                <a:sym typeface="Neo Tech Bold"/>
              </a:rPr>
              <a:t>DATA PREPROCESSING</a:t>
            </a:r>
          </a:p>
        </p:txBody>
      </p:sp>
      <p:sp>
        <p:nvSpPr>
          <p:cNvPr name="TextBox 6" id="6"/>
          <p:cNvSpPr txBox="true"/>
          <p:nvPr/>
        </p:nvSpPr>
        <p:spPr>
          <a:xfrm rot="0">
            <a:off x="4813846" y="4315722"/>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No missing values were found in the dataset, ensuring data integrity and eliminating the need for imputation techniques during the preprocessing phase.</a:t>
            </a:r>
          </a:p>
        </p:txBody>
      </p:sp>
      <p:sp>
        <p:nvSpPr>
          <p:cNvPr name="TextBox 7" id="7"/>
          <p:cNvSpPr txBox="true"/>
          <p:nvPr/>
        </p:nvSpPr>
        <p:spPr>
          <a:xfrm rot="0">
            <a:off x="4813846" y="5856350"/>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Data was scaled using MinMaxScaler to normalize all features between 0 and 1, ensuring consistent scale across variables for optimal model performance.</a:t>
            </a:r>
          </a:p>
        </p:txBody>
      </p:sp>
      <p:sp>
        <p:nvSpPr>
          <p:cNvPr name="TextBox 8" id="8"/>
          <p:cNvSpPr txBox="true"/>
          <p:nvPr/>
        </p:nvSpPr>
        <p:spPr>
          <a:xfrm rot="0">
            <a:off x="4813846" y="7401685"/>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Dataset was split into training (74%) and testing (26%) sets to enable proper model validation and prevent overfitting during the learning process.</a:t>
            </a:r>
          </a:p>
        </p:txBody>
      </p:sp>
      <p:sp>
        <p:nvSpPr>
          <p:cNvPr name="Freeform 9" id="9"/>
          <p:cNvSpPr/>
          <p:nvPr/>
        </p:nvSpPr>
        <p:spPr>
          <a:xfrm flipH="false" flipV="false" rot="0">
            <a:off x="3513737" y="5999873"/>
            <a:ext cx="920763" cy="838585"/>
          </a:xfrm>
          <a:custGeom>
            <a:avLst/>
            <a:gdLst/>
            <a:ahLst/>
            <a:cxnLst/>
            <a:rect r="r" b="b" t="t" l="l"/>
            <a:pathLst>
              <a:path h="838585" w="920763">
                <a:moveTo>
                  <a:pt x="0" y="0"/>
                </a:moveTo>
                <a:lnTo>
                  <a:pt x="920763" y="0"/>
                </a:lnTo>
                <a:lnTo>
                  <a:pt x="920763" y="838585"/>
                </a:lnTo>
                <a:lnTo>
                  <a:pt x="0" y="838585"/>
                </a:lnTo>
                <a:lnTo>
                  <a:pt x="0" y="0"/>
                </a:lnTo>
                <a:close/>
              </a:path>
            </a:pathLst>
          </a:custGeom>
          <a:blipFill>
            <a:blip r:embed="rId5"/>
            <a:stretch>
              <a:fillRect l="0" t="0" r="0" b="0"/>
            </a:stretch>
          </a:blipFill>
        </p:spPr>
      </p:sp>
      <p:sp>
        <p:nvSpPr>
          <p:cNvPr name="Freeform 10" id="10"/>
          <p:cNvSpPr/>
          <p:nvPr/>
        </p:nvSpPr>
        <p:spPr>
          <a:xfrm flipH="false" flipV="false" rot="0">
            <a:off x="3724744" y="7692066"/>
            <a:ext cx="673084" cy="671401"/>
          </a:xfrm>
          <a:custGeom>
            <a:avLst/>
            <a:gdLst/>
            <a:ahLst/>
            <a:cxnLst/>
            <a:rect r="r" b="b" t="t" l="l"/>
            <a:pathLst>
              <a:path h="671401" w="673084">
                <a:moveTo>
                  <a:pt x="0" y="0"/>
                </a:moveTo>
                <a:lnTo>
                  <a:pt x="673084" y="0"/>
                </a:lnTo>
                <a:lnTo>
                  <a:pt x="673084" y="671401"/>
                </a:lnTo>
                <a:lnTo>
                  <a:pt x="0" y="671401"/>
                </a:lnTo>
                <a:lnTo>
                  <a:pt x="0" y="0"/>
                </a:lnTo>
                <a:close/>
              </a:path>
            </a:pathLst>
          </a:custGeom>
          <a:blipFill>
            <a:blip r:embed="rId6"/>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5FC2"/>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7221231" y="1520888"/>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2384810" y="2397377"/>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541124" y="4503429"/>
            <a:ext cx="873595" cy="897862"/>
          </a:xfrm>
          <a:custGeom>
            <a:avLst/>
            <a:gdLst/>
            <a:ahLst/>
            <a:cxnLst/>
            <a:rect r="r" b="b" t="t" l="l"/>
            <a:pathLst>
              <a:path h="897862" w="873595">
                <a:moveTo>
                  <a:pt x="0" y="0"/>
                </a:moveTo>
                <a:lnTo>
                  <a:pt x="873595" y="0"/>
                </a:lnTo>
                <a:lnTo>
                  <a:pt x="873595" y="897862"/>
                </a:lnTo>
                <a:lnTo>
                  <a:pt x="0" y="897862"/>
                </a:lnTo>
                <a:lnTo>
                  <a:pt x="0" y="0"/>
                </a:lnTo>
                <a:close/>
              </a:path>
            </a:pathLst>
          </a:custGeom>
          <a:blipFill>
            <a:blip r:embed="rId4"/>
            <a:stretch>
              <a:fillRect l="0" t="0" r="0" b="0"/>
            </a:stretch>
          </a:blipFill>
        </p:spPr>
      </p:sp>
      <p:sp>
        <p:nvSpPr>
          <p:cNvPr name="TextBox 5" id="5"/>
          <p:cNvSpPr txBox="true"/>
          <p:nvPr/>
        </p:nvSpPr>
        <p:spPr>
          <a:xfrm rot="0">
            <a:off x="4336389" y="1587629"/>
            <a:ext cx="9615222" cy="1238250"/>
          </a:xfrm>
          <a:prstGeom prst="rect">
            <a:avLst/>
          </a:prstGeom>
        </p:spPr>
        <p:txBody>
          <a:bodyPr anchor="t" rtlCol="false" tIns="0" lIns="0" bIns="0" rIns="0">
            <a:spAutoFit/>
          </a:bodyPr>
          <a:lstStyle/>
          <a:p>
            <a:pPr algn="ctr" marL="0" indent="0" lvl="0">
              <a:lnSpc>
                <a:spcPts val="8549"/>
              </a:lnSpc>
            </a:pPr>
            <a:r>
              <a:rPr lang="en-US" b="true" sz="7500">
                <a:solidFill>
                  <a:srgbClr val="FFFFFF"/>
                </a:solidFill>
                <a:latin typeface="Neo Tech Bold"/>
                <a:ea typeface="Neo Tech Bold"/>
                <a:cs typeface="Neo Tech Bold"/>
                <a:sym typeface="Neo Tech Bold"/>
              </a:rPr>
              <a:t>ALGORITHMS USED</a:t>
            </a:r>
          </a:p>
        </p:txBody>
      </p:sp>
      <p:sp>
        <p:nvSpPr>
          <p:cNvPr name="TextBox 6" id="6"/>
          <p:cNvSpPr txBox="true"/>
          <p:nvPr/>
        </p:nvSpPr>
        <p:spPr>
          <a:xfrm rot="0">
            <a:off x="4813846" y="4315722"/>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Decision Tree Regressor: A simple tree-based model that splits data into branches based on feature values, creating interpretable rules for predicting stock prices.</a:t>
            </a:r>
          </a:p>
        </p:txBody>
      </p:sp>
      <p:sp>
        <p:nvSpPr>
          <p:cNvPr name="TextBox 7" id="7"/>
          <p:cNvSpPr txBox="true"/>
          <p:nvPr/>
        </p:nvSpPr>
        <p:spPr>
          <a:xfrm rot="0">
            <a:off x="4813846" y="5856350"/>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Random Forest Regressor: An ensemble method combining multiple decision trees to improve prediction accuracy and reduce overfitting through averaging.</a:t>
            </a:r>
          </a:p>
        </p:txBody>
      </p:sp>
      <p:sp>
        <p:nvSpPr>
          <p:cNvPr name="TextBox 8" id="8"/>
          <p:cNvSpPr txBox="true"/>
          <p:nvPr/>
        </p:nvSpPr>
        <p:spPr>
          <a:xfrm rot="0">
            <a:off x="4813846" y="7401685"/>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K-Nearest Neighbors (KNN): A distance-based algorithm that predicts stock prices by finding the most similar historical data points in the training set.</a:t>
            </a:r>
          </a:p>
        </p:txBody>
      </p:sp>
      <p:sp>
        <p:nvSpPr>
          <p:cNvPr name="Freeform 9" id="9"/>
          <p:cNvSpPr/>
          <p:nvPr/>
        </p:nvSpPr>
        <p:spPr>
          <a:xfrm flipH="false" flipV="false" rot="0">
            <a:off x="3538704" y="5960740"/>
            <a:ext cx="878910" cy="833838"/>
          </a:xfrm>
          <a:custGeom>
            <a:avLst/>
            <a:gdLst/>
            <a:ahLst/>
            <a:cxnLst/>
            <a:rect r="r" b="b" t="t" l="l"/>
            <a:pathLst>
              <a:path h="833838" w="878910">
                <a:moveTo>
                  <a:pt x="0" y="0"/>
                </a:moveTo>
                <a:lnTo>
                  <a:pt x="878910" y="0"/>
                </a:lnTo>
                <a:lnTo>
                  <a:pt x="878910" y="833838"/>
                </a:lnTo>
                <a:lnTo>
                  <a:pt x="0" y="833838"/>
                </a:lnTo>
                <a:lnTo>
                  <a:pt x="0" y="0"/>
                </a:lnTo>
                <a:close/>
              </a:path>
            </a:pathLst>
          </a:custGeom>
          <a:blipFill>
            <a:blip r:embed="rId5"/>
            <a:stretch>
              <a:fillRect l="0" t="0" r="0" b="0"/>
            </a:stretch>
          </a:blipFill>
        </p:spPr>
      </p:sp>
      <p:sp>
        <p:nvSpPr>
          <p:cNvPr name="Freeform 10" id="10"/>
          <p:cNvSpPr/>
          <p:nvPr/>
        </p:nvSpPr>
        <p:spPr>
          <a:xfrm flipH="false" flipV="false" rot="0">
            <a:off x="3541332" y="7610131"/>
            <a:ext cx="1037951" cy="840341"/>
          </a:xfrm>
          <a:custGeom>
            <a:avLst/>
            <a:gdLst/>
            <a:ahLst/>
            <a:cxnLst/>
            <a:rect r="r" b="b" t="t" l="l"/>
            <a:pathLst>
              <a:path h="840341" w="1037951">
                <a:moveTo>
                  <a:pt x="0" y="0"/>
                </a:moveTo>
                <a:lnTo>
                  <a:pt x="1037950" y="0"/>
                </a:lnTo>
                <a:lnTo>
                  <a:pt x="1037950" y="840340"/>
                </a:lnTo>
                <a:lnTo>
                  <a:pt x="0" y="840340"/>
                </a:lnTo>
                <a:lnTo>
                  <a:pt x="0" y="0"/>
                </a:lnTo>
                <a:close/>
              </a:path>
            </a:pathLst>
          </a:custGeom>
          <a:blipFill>
            <a:blip r:embed="rId6"/>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341974" y="4178708"/>
            <a:ext cx="8975409" cy="1592961"/>
          </a:xfrm>
          <a:prstGeom prst="rect">
            <a:avLst/>
          </a:prstGeom>
        </p:spPr>
        <p:txBody>
          <a:bodyPr anchor="t" rtlCol="false" tIns="0" lIns="0" bIns="0" rIns="0">
            <a:spAutoFit/>
          </a:bodyPr>
          <a:lstStyle/>
          <a:p>
            <a:pPr algn="l" marL="0" indent="0" lvl="0">
              <a:lnSpc>
                <a:spcPts val="3191"/>
              </a:lnSpc>
            </a:pPr>
            <a:r>
              <a:rPr lang="en-US" sz="2799">
                <a:solidFill>
                  <a:srgbClr val="005FC2"/>
                </a:solidFill>
                <a:latin typeface="Koho"/>
                <a:ea typeface="Koho"/>
                <a:cs typeface="Koho"/>
                <a:sym typeface="Koho"/>
              </a:rPr>
              <a:t>Models trained on historical stock price data from Reliance Industries (2020–2024). Each algorithm processes the preprocessed dataset to identify patterns and correlations between features like Open, High, Low prices, and Volume.</a:t>
            </a:r>
          </a:p>
        </p:txBody>
      </p:sp>
      <p:sp>
        <p:nvSpPr>
          <p:cNvPr name="Freeform 3" id="3"/>
          <p:cNvSpPr/>
          <p:nvPr/>
        </p:nvSpPr>
        <p:spPr>
          <a:xfrm flipH="true" flipV="false" rot="-10149532">
            <a:off x="-3580585" y="4143179"/>
            <a:ext cx="7161170" cy="10230243"/>
          </a:xfrm>
          <a:custGeom>
            <a:avLst/>
            <a:gdLst/>
            <a:ahLst/>
            <a:cxnLst/>
            <a:rect r="r" b="b" t="t" l="l"/>
            <a:pathLst>
              <a:path h="10230243" w="7161170">
                <a:moveTo>
                  <a:pt x="7161170" y="0"/>
                </a:moveTo>
                <a:lnTo>
                  <a:pt x="0" y="0"/>
                </a:lnTo>
                <a:lnTo>
                  <a:pt x="0" y="10230242"/>
                </a:lnTo>
                <a:lnTo>
                  <a:pt x="7161170" y="10230242"/>
                </a:lnTo>
                <a:lnTo>
                  <a:pt x="716117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129211">
            <a:off x="14707415" y="-4280324"/>
            <a:ext cx="7161170" cy="10230243"/>
          </a:xfrm>
          <a:custGeom>
            <a:avLst/>
            <a:gdLst/>
            <a:ahLst/>
            <a:cxnLst/>
            <a:rect r="r" b="b" t="t" l="l"/>
            <a:pathLst>
              <a:path h="10230243" w="7161170">
                <a:moveTo>
                  <a:pt x="7161170" y="0"/>
                </a:moveTo>
                <a:lnTo>
                  <a:pt x="0" y="0"/>
                </a:lnTo>
                <a:lnTo>
                  <a:pt x="0" y="10230242"/>
                </a:lnTo>
                <a:lnTo>
                  <a:pt x="7161170" y="10230242"/>
                </a:lnTo>
                <a:lnTo>
                  <a:pt x="716117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09718" y="2612984"/>
            <a:ext cx="5931334" cy="6084730"/>
          </a:xfrm>
          <a:custGeom>
            <a:avLst/>
            <a:gdLst/>
            <a:ahLst/>
            <a:cxnLst/>
            <a:rect r="r" b="b" t="t" l="l"/>
            <a:pathLst>
              <a:path h="6084730" w="5931334">
                <a:moveTo>
                  <a:pt x="0" y="0"/>
                </a:moveTo>
                <a:lnTo>
                  <a:pt x="5931334" y="0"/>
                </a:lnTo>
                <a:lnTo>
                  <a:pt x="5931334" y="6084731"/>
                </a:lnTo>
                <a:lnTo>
                  <a:pt x="0" y="6084731"/>
                </a:lnTo>
                <a:lnTo>
                  <a:pt x="0" y="0"/>
                </a:lnTo>
                <a:close/>
              </a:path>
            </a:pathLst>
          </a:custGeom>
          <a:blipFill>
            <a:blip r:embed="rId4"/>
            <a:stretch>
              <a:fillRect l="0" t="0" r="0" b="0"/>
            </a:stretch>
          </a:blipFill>
        </p:spPr>
      </p:sp>
      <p:sp>
        <p:nvSpPr>
          <p:cNvPr name="TextBox 6" id="6"/>
          <p:cNvSpPr txBox="true"/>
          <p:nvPr/>
        </p:nvSpPr>
        <p:spPr>
          <a:xfrm rot="0">
            <a:off x="3622883" y="1246437"/>
            <a:ext cx="10894849" cy="1238250"/>
          </a:xfrm>
          <a:prstGeom prst="rect">
            <a:avLst/>
          </a:prstGeom>
        </p:spPr>
        <p:txBody>
          <a:bodyPr anchor="t" rtlCol="false" tIns="0" lIns="0" bIns="0" rIns="0">
            <a:spAutoFit/>
          </a:bodyPr>
          <a:lstStyle/>
          <a:p>
            <a:pPr algn="ctr" marL="0" indent="0" lvl="0">
              <a:lnSpc>
                <a:spcPts val="8549"/>
              </a:lnSpc>
            </a:pPr>
            <a:r>
              <a:rPr lang="en-US" b="true" sz="7500">
                <a:solidFill>
                  <a:srgbClr val="005FC2"/>
                </a:solidFill>
                <a:latin typeface="Neo Tech Bold"/>
                <a:ea typeface="Neo Tech Bold"/>
                <a:cs typeface="Neo Tech Bold"/>
                <a:sym typeface="Neo Tech Bold"/>
              </a:rPr>
              <a:t>MODEL TRAINING</a:t>
            </a:r>
          </a:p>
        </p:txBody>
      </p:sp>
      <p:sp>
        <p:nvSpPr>
          <p:cNvPr name="TextBox 7" id="7"/>
          <p:cNvSpPr txBox="true"/>
          <p:nvPr/>
        </p:nvSpPr>
        <p:spPr>
          <a:xfrm rot="0">
            <a:off x="7341974" y="6578754"/>
            <a:ext cx="8975409" cy="1592961"/>
          </a:xfrm>
          <a:prstGeom prst="rect">
            <a:avLst/>
          </a:prstGeom>
        </p:spPr>
        <p:txBody>
          <a:bodyPr anchor="t" rtlCol="false" tIns="0" lIns="0" bIns="0" rIns="0">
            <a:spAutoFit/>
          </a:bodyPr>
          <a:lstStyle/>
          <a:p>
            <a:pPr algn="l" marL="0" indent="0" lvl="0">
              <a:lnSpc>
                <a:spcPts val="3191"/>
              </a:lnSpc>
            </a:pPr>
            <a:r>
              <a:rPr lang="en-US" sz="2799">
                <a:solidFill>
                  <a:srgbClr val="005FC2"/>
                </a:solidFill>
                <a:latin typeface="Koho"/>
                <a:ea typeface="Koho"/>
                <a:cs typeface="Koho"/>
                <a:sym typeface="Koho"/>
              </a:rPr>
              <a:t>Algorithms learn relationships in past data to understand how different factors influence closing prices. The training process iteratively adjusts model parameters to minimize prediction errors and improve accuracy.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953809" y="1685119"/>
            <a:ext cx="10894849" cy="1238210"/>
          </a:xfrm>
          <a:prstGeom prst="rect">
            <a:avLst/>
          </a:prstGeom>
        </p:spPr>
        <p:txBody>
          <a:bodyPr anchor="t" rtlCol="false" tIns="0" lIns="0" bIns="0" rIns="0">
            <a:spAutoFit/>
          </a:bodyPr>
          <a:lstStyle/>
          <a:p>
            <a:pPr algn="ctr" marL="0" indent="0" lvl="0">
              <a:lnSpc>
                <a:spcPts val="8543"/>
              </a:lnSpc>
            </a:pPr>
            <a:r>
              <a:rPr lang="en-US" b="true" sz="7494">
                <a:solidFill>
                  <a:srgbClr val="005FC2"/>
                </a:solidFill>
                <a:latin typeface="Neo Tech Bold"/>
                <a:ea typeface="Neo Tech Bold"/>
                <a:cs typeface="Neo Tech Bold"/>
                <a:sym typeface="Neo Tech Bold"/>
              </a:rPr>
              <a:t>MODEL COMPARISON</a:t>
            </a:r>
          </a:p>
        </p:txBody>
      </p:sp>
      <p:sp>
        <p:nvSpPr>
          <p:cNvPr name="TextBox 3" id="3"/>
          <p:cNvSpPr txBox="true"/>
          <p:nvPr/>
        </p:nvSpPr>
        <p:spPr>
          <a:xfrm rot="0">
            <a:off x="7642726" y="5265039"/>
            <a:ext cx="4230126" cy="3993246"/>
          </a:xfrm>
          <a:prstGeom prst="rect">
            <a:avLst/>
          </a:prstGeom>
        </p:spPr>
        <p:txBody>
          <a:bodyPr anchor="t" rtlCol="false" tIns="0" lIns="0" bIns="0" rIns="0">
            <a:spAutoFit/>
          </a:bodyPr>
          <a:lstStyle/>
          <a:p>
            <a:pPr algn="l" marL="0" indent="0" lvl="0">
              <a:lnSpc>
                <a:spcPts val="3189"/>
              </a:lnSpc>
            </a:pPr>
            <a:r>
              <a:rPr lang="en-US" sz="2798">
                <a:solidFill>
                  <a:srgbClr val="005FC2"/>
                </a:solidFill>
                <a:latin typeface="Koho"/>
                <a:ea typeface="Koho"/>
                <a:cs typeface="Koho"/>
                <a:sym typeface="Koho"/>
              </a:rPr>
              <a:t>K-Nearest Neighbors (KNN)</a:t>
            </a:r>
          </a:p>
          <a:p>
            <a:pPr algn="l" marL="0" indent="0" lvl="0">
              <a:lnSpc>
                <a:spcPts val="3189"/>
              </a:lnSpc>
            </a:pPr>
            <a:r>
              <a:rPr lang="en-US" sz="2798">
                <a:solidFill>
                  <a:srgbClr val="005FC2"/>
                </a:solidFill>
                <a:latin typeface="Koho"/>
                <a:ea typeface="Koho"/>
                <a:cs typeface="Koho"/>
                <a:sym typeface="Koho"/>
              </a:rPr>
              <a:t>• R² Score: ~0.85</a:t>
            </a:r>
          </a:p>
          <a:p>
            <a:pPr algn="l" marL="0" indent="0" lvl="0">
              <a:lnSpc>
                <a:spcPts val="3189"/>
              </a:lnSpc>
            </a:pPr>
            <a:r>
              <a:rPr lang="en-US" sz="2798">
                <a:solidFill>
                  <a:srgbClr val="005FC2"/>
                </a:solidFill>
                <a:latin typeface="Koho"/>
                <a:ea typeface="Koho"/>
                <a:cs typeface="Koho"/>
                <a:sym typeface="Koho"/>
              </a:rPr>
              <a:t>• Simple distance-based approach</a:t>
            </a:r>
          </a:p>
          <a:p>
            <a:pPr algn="l" marL="0" indent="0" lvl="0">
              <a:lnSpc>
                <a:spcPts val="3189"/>
              </a:lnSpc>
            </a:pPr>
            <a:r>
              <a:rPr lang="en-US" sz="2798">
                <a:solidFill>
                  <a:srgbClr val="005FC2"/>
                </a:solidFill>
                <a:latin typeface="Koho"/>
                <a:ea typeface="Koho"/>
                <a:cs typeface="Koho"/>
                <a:sym typeface="Koho"/>
              </a:rPr>
              <a:t>• Fast training time</a:t>
            </a:r>
          </a:p>
          <a:p>
            <a:pPr algn="l" marL="0" indent="0" lvl="0">
              <a:lnSpc>
                <a:spcPts val="3189"/>
              </a:lnSpc>
            </a:pPr>
            <a:r>
              <a:rPr lang="en-US" sz="2798">
                <a:solidFill>
                  <a:srgbClr val="005FC2"/>
                </a:solidFill>
                <a:latin typeface="Koho"/>
                <a:ea typeface="Koho"/>
                <a:cs typeface="Koho"/>
                <a:sym typeface="Koho"/>
              </a:rPr>
              <a:t>• Sensitive to feature scaling</a:t>
            </a:r>
          </a:p>
          <a:p>
            <a:pPr algn="l" marL="0" indent="0" lvl="0">
              <a:lnSpc>
                <a:spcPts val="3189"/>
              </a:lnSpc>
            </a:pPr>
            <a:r>
              <a:rPr lang="en-US" sz="2798">
                <a:solidFill>
                  <a:srgbClr val="005FC2"/>
                </a:solidFill>
                <a:latin typeface="Koho"/>
                <a:ea typeface="Koho"/>
                <a:cs typeface="Koho"/>
                <a:sym typeface="Koho"/>
              </a:rPr>
              <a:t>• Less accurate for volatile periods</a:t>
            </a:r>
          </a:p>
        </p:txBody>
      </p:sp>
      <p:sp>
        <p:nvSpPr>
          <p:cNvPr name="Freeform 4" id="4"/>
          <p:cNvSpPr/>
          <p:nvPr/>
        </p:nvSpPr>
        <p:spPr>
          <a:xfrm flipH="true" flipV="false" rot="0">
            <a:off x="-3207360" y="-5086743"/>
            <a:ext cx="7161170" cy="10230243"/>
          </a:xfrm>
          <a:custGeom>
            <a:avLst/>
            <a:gdLst/>
            <a:ahLst/>
            <a:cxnLst/>
            <a:rect r="r" b="b" t="t" l="l"/>
            <a:pathLst>
              <a:path h="10230243" w="7161170">
                <a:moveTo>
                  <a:pt x="7161169" y="0"/>
                </a:moveTo>
                <a:lnTo>
                  <a:pt x="0" y="0"/>
                </a:lnTo>
                <a:lnTo>
                  <a:pt x="0" y="10230243"/>
                </a:lnTo>
                <a:lnTo>
                  <a:pt x="7161169" y="10230243"/>
                </a:lnTo>
                <a:lnTo>
                  <a:pt x="716116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3885569">
            <a:off x="15560500" y="4143179"/>
            <a:ext cx="7161170" cy="10230243"/>
          </a:xfrm>
          <a:custGeom>
            <a:avLst/>
            <a:gdLst/>
            <a:ahLst/>
            <a:cxnLst/>
            <a:rect r="r" b="b" t="t" l="l"/>
            <a:pathLst>
              <a:path h="10230243" w="7161170">
                <a:moveTo>
                  <a:pt x="7161169" y="0"/>
                </a:moveTo>
                <a:lnTo>
                  <a:pt x="0" y="0"/>
                </a:lnTo>
                <a:lnTo>
                  <a:pt x="0" y="10230242"/>
                </a:lnTo>
                <a:lnTo>
                  <a:pt x="7161169" y="10230242"/>
                </a:lnTo>
                <a:lnTo>
                  <a:pt x="716116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2229407" y="3866959"/>
            <a:ext cx="4656668" cy="2393046"/>
          </a:xfrm>
          <a:prstGeom prst="rect">
            <a:avLst/>
          </a:prstGeom>
        </p:spPr>
        <p:txBody>
          <a:bodyPr anchor="t" rtlCol="false" tIns="0" lIns="0" bIns="0" rIns="0">
            <a:spAutoFit/>
          </a:bodyPr>
          <a:lstStyle/>
          <a:p>
            <a:pPr algn="l" marL="0" indent="0" lvl="0">
              <a:lnSpc>
                <a:spcPts val="3189"/>
              </a:lnSpc>
            </a:pPr>
            <a:r>
              <a:rPr lang="en-US" sz="2798">
                <a:solidFill>
                  <a:srgbClr val="005FC2"/>
                </a:solidFill>
                <a:latin typeface="Koho"/>
                <a:ea typeface="Koho"/>
                <a:cs typeface="Koho"/>
                <a:sym typeface="Koho"/>
              </a:rPr>
              <a:t>Random Forest Regressor</a:t>
            </a:r>
          </a:p>
          <a:p>
            <a:pPr algn="l" marL="0" indent="0" lvl="0">
              <a:lnSpc>
                <a:spcPts val="3189"/>
              </a:lnSpc>
            </a:pPr>
            <a:r>
              <a:rPr lang="en-US" sz="2798">
                <a:solidFill>
                  <a:srgbClr val="005FC2"/>
                </a:solidFill>
                <a:latin typeface="Koho"/>
                <a:ea typeface="Koho"/>
                <a:cs typeface="Koho"/>
                <a:sym typeface="Koho"/>
              </a:rPr>
              <a:t>• R² Score: ~0.97 (Best)</a:t>
            </a:r>
          </a:p>
          <a:p>
            <a:pPr algn="l" marL="0" indent="0" lvl="0">
              <a:lnSpc>
                <a:spcPts val="3189"/>
              </a:lnSpc>
            </a:pPr>
            <a:r>
              <a:rPr lang="en-US" sz="2798">
                <a:solidFill>
                  <a:srgbClr val="005FC2"/>
                </a:solidFill>
                <a:latin typeface="Koho"/>
                <a:ea typeface="Koho"/>
                <a:cs typeface="Koho"/>
                <a:sym typeface="Koho"/>
              </a:rPr>
              <a:t>• Ensemble of decision trees</a:t>
            </a:r>
          </a:p>
          <a:p>
            <a:pPr algn="l" marL="0" indent="0" lvl="0">
              <a:lnSpc>
                <a:spcPts val="3189"/>
              </a:lnSpc>
            </a:pPr>
            <a:r>
              <a:rPr lang="en-US" sz="2798">
                <a:solidFill>
                  <a:srgbClr val="005FC2"/>
                </a:solidFill>
                <a:latin typeface="Koho"/>
                <a:ea typeface="Koho"/>
                <a:cs typeface="Koho"/>
                <a:sym typeface="Koho"/>
              </a:rPr>
              <a:t>• Handles non-linear patterns</a:t>
            </a:r>
          </a:p>
          <a:p>
            <a:pPr algn="l" marL="0" indent="0" lvl="0">
              <a:lnSpc>
                <a:spcPts val="3189"/>
              </a:lnSpc>
            </a:pPr>
            <a:r>
              <a:rPr lang="en-US" sz="2798">
                <a:solidFill>
                  <a:srgbClr val="005FC2"/>
                </a:solidFill>
                <a:latin typeface="Koho"/>
                <a:ea typeface="Koho"/>
                <a:cs typeface="Koho"/>
                <a:sym typeface="Koho"/>
              </a:rPr>
              <a:t>• Robust against overfitting</a:t>
            </a:r>
          </a:p>
          <a:p>
            <a:pPr algn="l" marL="0" indent="0" lvl="0">
              <a:lnSpc>
                <a:spcPts val="3189"/>
              </a:lnSpc>
            </a:pPr>
            <a:r>
              <a:rPr lang="en-US" sz="2798">
                <a:solidFill>
                  <a:srgbClr val="005FC2"/>
                </a:solidFill>
                <a:latin typeface="Koho"/>
                <a:ea typeface="Koho"/>
                <a:cs typeface="Koho"/>
                <a:sym typeface="Koho"/>
              </a:rPr>
              <a:t>• Most stable predictions</a:t>
            </a:r>
          </a:p>
        </p:txBody>
      </p:sp>
      <p:sp>
        <p:nvSpPr>
          <p:cNvPr name="TextBox 7" id="7"/>
          <p:cNvSpPr txBox="true"/>
          <p:nvPr/>
        </p:nvSpPr>
        <p:spPr>
          <a:xfrm rot="0">
            <a:off x="2629502" y="3866959"/>
            <a:ext cx="4656668" cy="2793096"/>
          </a:xfrm>
          <a:prstGeom prst="rect">
            <a:avLst/>
          </a:prstGeom>
        </p:spPr>
        <p:txBody>
          <a:bodyPr anchor="t" rtlCol="false" tIns="0" lIns="0" bIns="0" rIns="0">
            <a:spAutoFit/>
          </a:bodyPr>
          <a:lstStyle/>
          <a:p>
            <a:pPr algn="l" marL="0" indent="0" lvl="0">
              <a:lnSpc>
                <a:spcPts val="3189"/>
              </a:lnSpc>
            </a:pPr>
            <a:r>
              <a:rPr lang="en-US" sz="2798">
                <a:solidFill>
                  <a:srgbClr val="005FC2"/>
                </a:solidFill>
                <a:latin typeface="Koho"/>
                <a:ea typeface="Koho"/>
                <a:cs typeface="Koho"/>
                <a:sym typeface="Koho"/>
              </a:rPr>
              <a:t>Decision Tree Regressor</a:t>
            </a:r>
          </a:p>
          <a:p>
            <a:pPr algn="l" marL="0" indent="0" lvl="0">
              <a:lnSpc>
                <a:spcPts val="3189"/>
              </a:lnSpc>
            </a:pPr>
            <a:r>
              <a:rPr lang="en-US" sz="2798">
                <a:solidFill>
                  <a:srgbClr val="005FC2"/>
                </a:solidFill>
                <a:latin typeface="Koho"/>
                <a:ea typeface="Koho"/>
                <a:cs typeface="Koho"/>
                <a:sym typeface="Koho"/>
              </a:rPr>
              <a:t>• R² Score: ~0.92</a:t>
            </a:r>
          </a:p>
          <a:p>
            <a:pPr algn="l" marL="0" indent="0" lvl="0">
              <a:lnSpc>
                <a:spcPts val="3189"/>
              </a:lnSpc>
            </a:pPr>
            <a:r>
              <a:rPr lang="en-US" sz="2798">
                <a:solidFill>
                  <a:srgbClr val="005FC2"/>
                </a:solidFill>
                <a:latin typeface="Koho"/>
                <a:ea typeface="Koho"/>
                <a:cs typeface="Koho"/>
                <a:sym typeface="Koho"/>
              </a:rPr>
              <a:t>• Easy to interpret results</a:t>
            </a:r>
          </a:p>
          <a:p>
            <a:pPr algn="l" marL="0" indent="0" lvl="0">
              <a:lnSpc>
                <a:spcPts val="3189"/>
              </a:lnSpc>
            </a:pPr>
            <a:r>
              <a:rPr lang="en-US" sz="2798">
                <a:solidFill>
                  <a:srgbClr val="005FC2"/>
                </a:solidFill>
                <a:latin typeface="Koho"/>
                <a:ea typeface="Koho"/>
                <a:cs typeface="Koho"/>
                <a:sym typeface="Koho"/>
              </a:rPr>
              <a:t>• Captures complex patterns</a:t>
            </a:r>
          </a:p>
          <a:p>
            <a:pPr algn="l" marL="0" indent="0" lvl="0">
              <a:lnSpc>
                <a:spcPts val="3189"/>
              </a:lnSpc>
            </a:pPr>
            <a:r>
              <a:rPr lang="en-US" sz="2798">
                <a:solidFill>
                  <a:srgbClr val="005FC2"/>
                </a:solidFill>
                <a:latin typeface="Koho"/>
                <a:ea typeface="Koho"/>
                <a:cs typeface="Koho"/>
                <a:sym typeface="Koho"/>
              </a:rPr>
              <a:t>• Prone to overfitting</a:t>
            </a:r>
          </a:p>
          <a:p>
            <a:pPr algn="l" marL="0" indent="0" lvl="0">
              <a:lnSpc>
                <a:spcPts val="3189"/>
              </a:lnSpc>
            </a:pPr>
            <a:r>
              <a:rPr lang="en-US" sz="2798">
                <a:solidFill>
                  <a:srgbClr val="005FC2"/>
                </a:solidFill>
                <a:latin typeface="Koho"/>
                <a:ea typeface="Koho"/>
                <a:cs typeface="Koho"/>
                <a:sym typeface="Koho"/>
              </a:rPr>
              <a:t>• Variable performance on test data</a:t>
            </a:r>
          </a:p>
        </p:txBody>
      </p:sp>
      <p:sp>
        <p:nvSpPr>
          <p:cNvPr name="Freeform 8" id="8"/>
          <p:cNvSpPr/>
          <p:nvPr/>
        </p:nvSpPr>
        <p:spPr>
          <a:xfrm flipH="false" flipV="false" rot="0">
            <a:off x="3953809" y="7660195"/>
            <a:ext cx="679170" cy="679170"/>
          </a:xfrm>
          <a:custGeom>
            <a:avLst/>
            <a:gdLst/>
            <a:ahLst/>
            <a:cxnLst/>
            <a:rect r="r" b="b" t="t" l="l"/>
            <a:pathLst>
              <a:path h="679170" w="679170">
                <a:moveTo>
                  <a:pt x="0" y="0"/>
                </a:moveTo>
                <a:lnTo>
                  <a:pt x="679170" y="0"/>
                </a:lnTo>
                <a:lnTo>
                  <a:pt x="679170" y="679170"/>
                </a:lnTo>
                <a:lnTo>
                  <a:pt x="0" y="6791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509074" y="7660195"/>
            <a:ext cx="679170" cy="679170"/>
          </a:xfrm>
          <a:custGeom>
            <a:avLst/>
            <a:gdLst/>
            <a:ahLst/>
            <a:cxnLst/>
            <a:rect r="r" b="b" t="t" l="l"/>
            <a:pathLst>
              <a:path h="679170" w="679170">
                <a:moveTo>
                  <a:pt x="0" y="0"/>
                </a:moveTo>
                <a:lnTo>
                  <a:pt x="679169" y="0"/>
                </a:lnTo>
                <a:lnTo>
                  <a:pt x="679169" y="679170"/>
                </a:lnTo>
                <a:lnTo>
                  <a:pt x="0" y="6791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9061649" y="4391102"/>
            <a:ext cx="679170" cy="679170"/>
          </a:xfrm>
          <a:custGeom>
            <a:avLst/>
            <a:gdLst/>
            <a:ahLst/>
            <a:cxnLst/>
            <a:rect r="r" b="b" t="t" l="l"/>
            <a:pathLst>
              <a:path h="679170" w="679170">
                <a:moveTo>
                  <a:pt x="0" y="0"/>
                </a:moveTo>
                <a:lnTo>
                  <a:pt x="679170" y="0"/>
                </a:lnTo>
                <a:lnTo>
                  <a:pt x="679170" y="679169"/>
                </a:lnTo>
                <a:lnTo>
                  <a:pt x="0" y="6791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56048" y="3785953"/>
            <a:ext cx="10894849" cy="4698362"/>
            <a:chOff x="0" y="0"/>
            <a:chExt cx="971835" cy="419100"/>
          </a:xfrm>
        </p:grpSpPr>
        <p:sp>
          <p:nvSpPr>
            <p:cNvPr name="Freeform 3" id="3"/>
            <p:cNvSpPr/>
            <p:nvPr/>
          </p:nvSpPr>
          <p:spPr>
            <a:xfrm flipH="false" flipV="false" rot="0">
              <a:off x="0" y="0"/>
              <a:ext cx="971835" cy="419100"/>
            </a:xfrm>
            <a:custGeom>
              <a:avLst/>
              <a:gdLst/>
              <a:ahLst/>
              <a:cxnLst/>
              <a:rect r="r" b="b" t="t" l="l"/>
              <a:pathLst>
                <a:path h="419100" w="971835">
                  <a:moveTo>
                    <a:pt x="0" y="0"/>
                  </a:moveTo>
                  <a:lnTo>
                    <a:pt x="971835" y="0"/>
                  </a:lnTo>
                  <a:lnTo>
                    <a:pt x="971835" y="419100"/>
                  </a:lnTo>
                  <a:lnTo>
                    <a:pt x="0" y="419100"/>
                  </a:lnTo>
                  <a:close/>
                </a:path>
              </a:pathLst>
            </a:custGeom>
            <a:solidFill>
              <a:srgbClr val="005FC2"/>
            </a:solidFill>
          </p:spPr>
        </p:sp>
        <p:sp>
          <p:nvSpPr>
            <p:cNvPr name="TextBox 4" id="4"/>
            <p:cNvSpPr txBox="true"/>
            <p:nvPr/>
          </p:nvSpPr>
          <p:spPr>
            <a:xfrm>
              <a:off x="0" y="-38100"/>
              <a:ext cx="971835" cy="4572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1855931" y="4333767"/>
            <a:ext cx="10095082" cy="3359682"/>
          </a:xfrm>
          <a:prstGeom prst="rect">
            <a:avLst/>
          </a:prstGeom>
        </p:spPr>
        <p:txBody>
          <a:bodyPr anchor="t" rtlCol="false" tIns="0" lIns="0" bIns="0" rIns="0">
            <a:spAutoFit/>
          </a:bodyPr>
          <a:lstStyle/>
          <a:p>
            <a:pPr algn="l" marL="0" indent="0" lvl="0">
              <a:lnSpc>
                <a:spcPts val="2454"/>
              </a:lnSpc>
            </a:pPr>
            <a:r>
              <a:rPr lang="en-US" sz="2153">
                <a:solidFill>
                  <a:srgbClr val="FFFFFF"/>
                </a:solidFill>
                <a:latin typeface="Koho"/>
                <a:ea typeface="Koho"/>
                <a:cs typeface="Koho"/>
                <a:sym typeface="Koho"/>
              </a:rPr>
              <a:t>Random Forest Regressor emerged as the top-performing model in this study. This ensemble learning method combines multiple decision trees to make predictions, leveraging the collective wisdom of many learners rather than relying on a single model.</a:t>
            </a:r>
          </a:p>
          <a:p>
            <a:pPr algn="l" marL="0" indent="0" lvl="0">
              <a:lnSpc>
                <a:spcPts val="2454"/>
              </a:lnSpc>
            </a:pPr>
            <a:r>
              <a:rPr lang="en-US" sz="2153">
                <a:solidFill>
                  <a:srgbClr val="FFFFFF"/>
                </a:solidFill>
                <a:latin typeface="Koho"/>
                <a:ea typeface="Koho"/>
                <a:cs typeface="Koho"/>
                <a:sym typeface="Koho"/>
              </a:rPr>
              <a:t>Key advantages of Random Forest:</a:t>
            </a:r>
          </a:p>
          <a:p>
            <a:pPr algn="l" marL="0" indent="0" lvl="0">
              <a:lnSpc>
                <a:spcPts val="2454"/>
              </a:lnSpc>
            </a:pPr>
            <a:r>
              <a:rPr lang="en-US" sz="2153">
                <a:solidFill>
                  <a:srgbClr val="FFFFFF"/>
                </a:solidFill>
                <a:latin typeface="Koho"/>
                <a:ea typeface="Koho"/>
                <a:cs typeface="Koho"/>
                <a:sym typeface="Koho"/>
              </a:rPr>
              <a:t>• Aggregates predictions from numerous decision trees for improved accuracy</a:t>
            </a:r>
          </a:p>
          <a:p>
            <a:pPr algn="l" marL="0" indent="0" lvl="0">
              <a:lnSpc>
                <a:spcPts val="2454"/>
              </a:lnSpc>
            </a:pPr>
            <a:r>
              <a:rPr lang="en-US" sz="2153">
                <a:solidFill>
                  <a:srgbClr val="FFFFFF"/>
                </a:solidFill>
                <a:latin typeface="Koho"/>
                <a:ea typeface="Koho"/>
                <a:cs typeface="Koho"/>
                <a:sym typeface="Koho"/>
              </a:rPr>
              <a:t>• Significantly reduces the risk of overfitting compared to single decision trees</a:t>
            </a:r>
          </a:p>
          <a:p>
            <a:pPr algn="l" marL="0" indent="0" lvl="0">
              <a:lnSpc>
                <a:spcPts val="2454"/>
              </a:lnSpc>
            </a:pPr>
            <a:r>
              <a:rPr lang="en-US" sz="2153">
                <a:solidFill>
                  <a:srgbClr val="FFFFFF"/>
                </a:solidFill>
                <a:latin typeface="Koho"/>
                <a:ea typeface="Koho"/>
                <a:cs typeface="Koho"/>
                <a:sym typeface="Koho"/>
              </a:rPr>
              <a:t>• Provides stable and consistent predictions across different data samples</a:t>
            </a:r>
          </a:p>
          <a:p>
            <a:pPr algn="l" marL="0" indent="0" lvl="0">
              <a:lnSpc>
                <a:spcPts val="2454"/>
              </a:lnSpc>
            </a:pPr>
            <a:r>
              <a:rPr lang="en-US" sz="2153">
                <a:solidFill>
                  <a:srgbClr val="FFFFFF"/>
                </a:solidFill>
                <a:latin typeface="Koho"/>
                <a:ea typeface="Koho"/>
                <a:cs typeface="Koho"/>
                <a:sym typeface="Koho"/>
              </a:rPr>
              <a:t>• Handles non-linear relationships in stock price data effectively</a:t>
            </a:r>
          </a:p>
          <a:p>
            <a:pPr algn="l" marL="0" indent="0" lvl="0">
              <a:lnSpc>
                <a:spcPts val="2454"/>
              </a:lnSpc>
            </a:pPr>
            <a:r>
              <a:rPr lang="en-US" sz="2153">
                <a:solidFill>
                  <a:srgbClr val="FFFFFF"/>
                </a:solidFill>
                <a:latin typeface="Koho"/>
                <a:ea typeface="Koho"/>
                <a:cs typeface="Koho"/>
                <a:sym typeface="Koho"/>
              </a:rPr>
              <a:t>The model demonstrated superior performance metrics compared to Decision Tree and KNN algorithms, making it the recommended choice for this stock prediction task.</a:t>
            </a:r>
          </a:p>
        </p:txBody>
      </p:sp>
      <p:sp>
        <p:nvSpPr>
          <p:cNvPr name="Freeform 6" id="6"/>
          <p:cNvSpPr/>
          <p:nvPr/>
        </p:nvSpPr>
        <p:spPr>
          <a:xfrm flipH="false" flipV="false" rot="-5400000">
            <a:off x="9594189" y="-320995"/>
            <a:ext cx="13836366" cy="8147874"/>
          </a:xfrm>
          <a:custGeom>
            <a:avLst/>
            <a:gdLst/>
            <a:ahLst/>
            <a:cxnLst/>
            <a:rect r="r" b="b" t="t" l="l"/>
            <a:pathLst>
              <a:path h="8147874" w="13836366">
                <a:moveTo>
                  <a:pt x="0" y="0"/>
                </a:moveTo>
                <a:lnTo>
                  <a:pt x="13836366" y="0"/>
                </a:lnTo>
                <a:lnTo>
                  <a:pt x="13836366" y="8147873"/>
                </a:lnTo>
                <a:lnTo>
                  <a:pt x="0" y="8147873"/>
                </a:lnTo>
                <a:lnTo>
                  <a:pt x="0" y="0"/>
                </a:lnTo>
                <a:close/>
              </a:path>
            </a:pathLst>
          </a:custGeom>
          <a:blipFill>
            <a:blip r:embed="rId2"/>
            <a:stretch>
              <a:fillRect l="0" t="0" r="0" b="0"/>
            </a:stretch>
          </a:blipFill>
        </p:spPr>
      </p:sp>
      <p:sp>
        <p:nvSpPr>
          <p:cNvPr name="TextBox 7" id="7"/>
          <p:cNvSpPr txBox="true"/>
          <p:nvPr/>
        </p:nvSpPr>
        <p:spPr>
          <a:xfrm rot="0">
            <a:off x="1456048" y="1974386"/>
            <a:ext cx="10894849" cy="1238210"/>
          </a:xfrm>
          <a:prstGeom prst="rect">
            <a:avLst/>
          </a:prstGeom>
        </p:spPr>
        <p:txBody>
          <a:bodyPr anchor="t" rtlCol="false" tIns="0" lIns="0" bIns="0" rIns="0">
            <a:spAutoFit/>
          </a:bodyPr>
          <a:lstStyle/>
          <a:p>
            <a:pPr algn="l" marL="0" indent="0" lvl="0">
              <a:lnSpc>
                <a:spcPts val="8543"/>
              </a:lnSpc>
            </a:pPr>
            <a:r>
              <a:rPr lang="en-US" b="true" sz="7494">
                <a:solidFill>
                  <a:srgbClr val="005FC2"/>
                </a:solidFill>
                <a:latin typeface="Neo Tech Bold"/>
                <a:ea typeface="Neo Tech Bold"/>
                <a:cs typeface="Neo Tech Bold"/>
                <a:sym typeface="Neo Tech Bold"/>
              </a:rPr>
              <a:t>BEST MODEL</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5FC2"/>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6918183" y="5888904"/>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454424" y="1459858"/>
            <a:ext cx="3804876" cy="3547520"/>
            <a:chOff x="0" y="0"/>
            <a:chExt cx="812800" cy="757823"/>
          </a:xfrm>
        </p:grpSpPr>
        <p:sp>
          <p:nvSpPr>
            <p:cNvPr name="Freeform 4" id="4"/>
            <p:cNvSpPr/>
            <p:nvPr/>
          </p:nvSpPr>
          <p:spPr>
            <a:xfrm flipH="false" flipV="false" rot="0">
              <a:off x="0" y="0"/>
              <a:ext cx="812800" cy="757823"/>
            </a:xfrm>
            <a:custGeom>
              <a:avLst/>
              <a:gdLst/>
              <a:ahLst/>
              <a:cxnLst/>
              <a:rect r="r" b="b" t="t" l="l"/>
              <a:pathLst>
                <a:path h="757823" w="812800">
                  <a:moveTo>
                    <a:pt x="46799" y="0"/>
                  </a:moveTo>
                  <a:lnTo>
                    <a:pt x="766001" y="0"/>
                  </a:lnTo>
                  <a:cubicBezTo>
                    <a:pt x="791847" y="0"/>
                    <a:pt x="812800" y="20953"/>
                    <a:pt x="812800" y="46799"/>
                  </a:cubicBezTo>
                  <a:lnTo>
                    <a:pt x="812800" y="711024"/>
                  </a:lnTo>
                  <a:cubicBezTo>
                    <a:pt x="812800" y="736871"/>
                    <a:pt x="791847" y="757823"/>
                    <a:pt x="766001" y="757823"/>
                  </a:cubicBezTo>
                  <a:lnTo>
                    <a:pt x="46799" y="757823"/>
                  </a:lnTo>
                  <a:cubicBezTo>
                    <a:pt x="20953" y="757823"/>
                    <a:pt x="0" y="736871"/>
                    <a:pt x="0" y="711024"/>
                  </a:cubicBezTo>
                  <a:lnTo>
                    <a:pt x="0" y="46799"/>
                  </a:lnTo>
                  <a:cubicBezTo>
                    <a:pt x="0" y="20953"/>
                    <a:pt x="20953" y="0"/>
                    <a:pt x="46799" y="0"/>
                  </a:cubicBezTo>
                  <a:close/>
                </a:path>
              </a:pathLst>
            </a:custGeom>
            <a:blipFill>
              <a:blip r:embed="rId4"/>
              <a:stretch>
                <a:fillRect l="0" t="-3627" r="0" b="-3627"/>
              </a:stretch>
            </a:blipFill>
          </p:spPr>
        </p:sp>
      </p:grpSp>
      <p:grpSp>
        <p:nvGrpSpPr>
          <p:cNvPr name="Group 5" id="5"/>
          <p:cNvGrpSpPr/>
          <p:nvPr/>
        </p:nvGrpSpPr>
        <p:grpSpPr>
          <a:xfrm rot="0">
            <a:off x="13454424" y="5279623"/>
            <a:ext cx="3804876" cy="3547520"/>
            <a:chOff x="0" y="0"/>
            <a:chExt cx="812800" cy="757823"/>
          </a:xfrm>
        </p:grpSpPr>
        <p:sp>
          <p:nvSpPr>
            <p:cNvPr name="Freeform 6" id="6"/>
            <p:cNvSpPr/>
            <p:nvPr/>
          </p:nvSpPr>
          <p:spPr>
            <a:xfrm flipH="false" flipV="false" rot="0">
              <a:off x="0" y="0"/>
              <a:ext cx="812800" cy="757823"/>
            </a:xfrm>
            <a:custGeom>
              <a:avLst/>
              <a:gdLst/>
              <a:ahLst/>
              <a:cxnLst/>
              <a:rect r="r" b="b" t="t" l="l"/>
              <a:pathLst>
                <a:path h="757823" w="812800">
                  <a:moveTo>
                    <a:pt x="46799" y="0"/>
                  </a:moveTo>
                  <a:lnTo>
                    <a:pt x="766001" y="0"/>
                  </a:lnTo>
                  <a:cubicBezTo>
                    <a:pt x="791847" y="0"/>
                    <a:pt x="812800" y="20953"/>
                    <a:pt x="812800" y="46799"/>
                  </a:cubicBezTo>
                  <a:lnTo>
                    <a:pt x="812800" y="711024"/>
                  </a:lnTo>
                  <a:cubicBezTo>
                    <a:pt x="812800" y="736871"/>
                    <a:pt x="791847" y="757823"/>
                    <a:pt x="766001" y="757823"/>
                  </a:cubicBezTo>
                  <a:lnTo>
                    <a:pt x="46799" y="757823"/>
                  </a:lnTo>
                  <a:cubicBezTo>
                    <a:pt x="20953" y="757823"/>
                    <a:pt x="0" y="736871"/>
                    <a:pt x="0" y="711024"/>
                  </a:cubicBezTo>
                  <a:lnTo>
                    <a:pt x="0" y="46799"/>
                  </a:lnTo>
                  <a:cubicBezTo>
                    <a:pt x="0" y="20953"/>
                    <a:pt x="20953" y="0"/>
                    <a:pt x="46799" y="0"/>
                  </a:cubicBezTo>
                  <a:close/>
                </a:path>
              </a:pathLst>
            </a:custGeom>
            <a:blipFill>
              <a:blip r:embed="rId5"/>
              <a:stretch>
                <a:fillRect l="0" t="-3627" r="0" b="-3627"/>
              </a:stretch>
            </a:blipFill>
          </p:spPr>
        </p:sp>
      </p:grpSp>
      <p:sp>
        <p:nvSpPr>
          <p:cNvPr name="Freeform 7" id="7"/>
          <p:cNvSpPr/>
          <p:nvPr/>
        </p:nvSpPr>
        <p:spPr>
          <a:xfrm flipH="false" flipV="false" rot="0">
            <a:off x="1829272" y="3519317"/>
            <a:ext cx="679170" cy="679170"/>
          </a:xfrm>
          <a:custGeom>
            <a:avLst/>
            <a:gdLst/>
            <a:ahLst/>
            <a:cxnLst/>
            <a:rect r="r" b="b" t="t" l="l"/>
            <a:pathLst>
              <a:path h="679170" w="679170">
                <a:moveTo>
                  <a:pt x="0" y="0"/>
                </a:moveTo>
                <a:lnTo>
                  <a:pt x="679170" y="0"/>
                </a:lnTo>
                <a:lnTo>
                  <a:pt x="679170" y="679170"/>
                </a:lnTo>
                <a:lnTo>
                  <a:pt x="0" y="6791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829272" y="5478561"/>
            <a:ext cx="679170" cy="679170"/>
          </a:xfrm>
          <a:custGeom>
            <a:avLst/>
            <a:gdLst/>
            <a:ahLst/>
            <a:cxnLst/>
            <a:rect r="r" b="b" t="t" l="l"/>
            <a:pathLst>
              <a:path h="679170" w="679170">
                <a:moveTo>
                  <a:pt x="0" y="0"/>
                </a:moveTo>
                <a:lnTo>
                  <a:pt x="679170" y="0"/>
                </a:lnTo>
                <a:lnTo>
                  <a:pt x="679170" y="679169"/>
                </a:lnTo>
                <a:lnTo>
                  <a:pt x="0" y="6791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829272" y="7433472"/>
            <a:ext cx="679170" cy="679170"/>
          </a:xfrm>
          <a:custGeom>
            <a:avLst/>
            <a:gdLst/>
            <a:ahLst/>
            <a:cxnLst/>
            <a:rect r="r" b="b" t="t" l="l"/>
            <a:pathLst>
              <a:path h="679170" w="679170">
                <a:moveTo>
                  <a:pt x="0" y="0"/>
                </a:moveTo>
                <a:lnTo>
                  <a:pt x="679170" y="0"/>
                </a:lnTo>
                <a:lnTo>
                  <a:pt x="679170" y="679169"/>
                </a:lnTo>
                <a:lnTo>
                  <a:pt x="0" y="6791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1829272" y="1355083"/>
            <a:ext cx="10894849" cy="1238210"/>
          </a:xfrm>
          <a:prstGeom prst="rect">
            <a:avLst/>
          </a:prstGeom>
        </p:spPr>
        <p:txBody>
          <a:bodyPr anchor="t" rtlCol="false" tIns="0" lIns="0" bIns="0" rIns="0">
            <a:spAutoFit/>
          </a:bodyPr>
          <a:lstStyle/>
          <a:p>
            <a:pPr algn="l" marL="0" indent="0" lvl="0">
              <a:lnSpc>
                <a:spcPts val="8543"/>
              </a:lnSpc>
            </a:pPr>
            <a:r>
              <a:rPr lang="en-US" b="true" sz="7494">
                <a:solidFill>
                  <a:srgbClr val="FFFFFF"/>
                </a:solidFill>
                <a:latin typeface="Neo Tech Bold"/>
                <a:ea typeface="Neo Tech Bold"/>
                <a:cs typeface="Neo Tech Bold"/>
                <a:sym typeface="Neo Tech Bold"/>
              </a:rPr>
              <a:t>VISUALIZATION</a:t>
            </a:r>
          </a:p>
        </p:txBody>
      </p:sp>
      <p:sp>
        <p:nvSpPr>
          <p:cNvPr name="TextBox 11" id="11"/>
          <p:cNvSpPr txBox="true"/>
          <p:nvPr/>
        </p:nvSpPr>
        <p:spPr>
          <a:xfrm rot="0">
            <a:off x="2895628" y="3076709"/>
            <a:ext cx="10148400" cy="1592946"/>
          </a:xfrm>
          <a:prstGeom prst="rect">
            <a:avLst/>
          </a:prstGeom>
        </p:spPr>
        <p:txBody>
          <a:bodyPr anchor="t" rtlCol="false" tIns="0" lIns="0" bIns="0" rIns="0">
            <a:spAutoFit/>
          </a:bodyPr>
          <a:lstStyle/>
          <a:p>
            <a:pPr algn="l" marL="0" indent="0" lvl="0">
              <a:lnSpc>
                <a:spcPts val="3189"/>
              </a:lnSpc>
            </a:pPr>
            <a:r>
              <a:rPr lang="en-US" sz="2798">
                <a:solidFill>
                  <a:srgbClr val="FFFFFF"/>
                </a:solidFill>
                <a:latin typeface="Koho"/>
                <a:ea typeface="Koho"/>
                <a:cs typeface="Koho"/>
                <a:sym typeface="Koho"/>
              </a:rPr>
              <a:t>Stock Price Trend Graph: Visual comparison showing actual closing prices versus predicted prices over the testing period, demonstrating how closely the Random Forest model tracks real market movements.</a:t>
            </a:r>
          </a:p>
        </p:txBody>
      </p:sp>
      <p:sp>
        <p:nvSpPr>
          <p:cNvPr name="TextBox 12" id="12"/>
          <p:cNvSpPr txBox="true"/>
          <p:nvPr/>
        </p:nvSpPr>
        <p:spPr>
          <a:xfrm rot="0">
            <a:off x="2895628" y="5035952"/>
            <a:ext cx="10148400" cy="1592946"/>
          </a:xfrm>
          <a:prstGeom prst="rect">
            <a:avLst/>
          </a:prstGeom>
        </p:spPr>
        <p:txBody>
          <a:bodyPr anchor="t" rtlCol="false" tIns="0" lIns="0" bIns="0" rIns="0">
            <a:spAutoFit/>
          </a:bodyPr>
          <a:lstStyle/>
          <a:p>
            <a:pPr algn="l" marL="0" indent="0" lvl="0">
              <a:lnSpc>
                <a:spcPts val="3189"/>
              </a:lnSpc>
            </a:pPr>
            <a:r>
              <a:rPr lang="en-US" sz="2798">
                <a:solidFill>
                  <a:srgbClr val="FFFFFF"/>
                </a:solidFill>
                <a:latin typeface="Koho"/>
                <a:ea typeface="Koho"/>
                <a:cs typeface="Koho"/>
                <a:sym typeface="Koho"/>
              </a:rPr>
              <a:t>Model Accuracy Comparison: Bar chart displaying R-squared scores for all three algorithms — Random Forest, Decision Tree, and KNN — clearly illustrating performance differences between models.</a:t>
            </a:r>
          </a:p>
        </p:txBody>
      </p:sp>
      <p:sp>
        <p:nvSpPr>
          <p:cNvPr name="TextBox 13" id="13"/>
          <p:cNvSpPr txBox="true"/>
          <p:nvPr/>
        </p:nvSpPr>
        <p:spPr>
          <a:xfrm rot="0">
            <a:off x="2895628" y="6990863"/>
            <a:ext cx="10148400" cy="1192896"/>
          </a:xfrm>
          <a:prstGeom prst="rect">
            <a:avLst/>
          </a:prstGeom>
        </p:spPr>
        <p:txBody>
          <a:bodyPr anchor="t" rtlCol="false" tIns="0" lIns="0" bIns="0" rIns="0">
            <a:spAutoFit/>
          </a:bodyPr>
          <a:lstStyle/>
          <a:p>
            <a:pPr algn="l" marL="0" indent="0" lvl="0">
              <a:lnSpc>
                <a:spcPts val="3189"/>
              </a:lnSpc>
            </a:pPr>
            <a:r>
              <a:rPr lang="en-US" sz="2798">
                <a:solidFill>
                  <a:srgbClr val="FFFFFF"/>
                </a:solidFill>
                <a:latin typeface="Koho"/>
                <a:ea typeface="Koho"/>
                <a:cs typeface="Koho"/>
                <a:sym typeface="Koho"/>
              </a:rPr>
              <a:t>Key Visual Insights: The trend graph reveals prediction accuracy patterns, while the bar chart provides at-a-glance comparison of model effectiveness for informed algorithm selection.</a:t>
            </a:r>
          </a:p>
        </p:txBody>
      </p:sp>
      <p:sp>
        <p:nvSpPr>
          <p:cNvPr name="Freeform 14" id="14"/>
          <p:cNvSpPr/>
          <p:nvPr/>
        </p:nvSpPr>
        <p:spPr>
          <a:xfrm flipH="false" flipV="false" rot="0">
            <a:off x="6125845" y="-4806690"/>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5FC2"/>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7221231" y="1520888"/>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2384810" y="2397377"/>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371605" y="4353826"/>
            <a:ext cx="1209333" cy="924901"/>
          </a:xfrm>
          <a:custGeom>
            <a:avLst/>
            <a:gdLst/>
            <a:ahLst/>
            <a:cxnLst/>
            <a:rect r="r" b="b" t="t" l="l"/>
            <a:pathLst>
              <a:path h="924901" w="1209333">
                <a:moveTo>
                  <a:pt x="0" y="0"/>
                </a:moveTo>
                <a:lnTo>
                  <a:pt x="1209333" y="0"/>
                </a:lnTo>
                <a:lnTo>
                  <a:pt x="1209333" y="924901"/>
                </a:lnTo>
                <a:lnTo>
                  <a:pt x="0" y="924901"/>
                </a:lnTo>
                <a:lnTo>
                  <a:pt x="0" y="0"/>
                </a:lnTo>
                <a:close/>
              </a:path>
            </a:pathLst>
          </a:custGeom>
          <a:blipFill>
            <a:blip r:embed="rId4"/>
            <a:stretch>
              <a:fillRect l="0" t="0" r="0" b="0"/>
            </a:stretch>
          </a:blipFill>
        </p:spPr>
      </p:sp>
      <p:sp>
        <p:nvSpPr>
          <p:cNvPr name="TextBox 5" id="5"/>
          <p:cNvSpPr txBox="true"/>
          <p:nvPr/>
        </p:nvSpPr>
        <p:spPr>
          <a:xfrm rot="0">
            <a:off x="4336389" y="1587629"/>
            <a:ext cx="9615222" cy="1238250"/>
          </a:xfrm>
          <a:prstGeom prst="rect">
            <a:avLst/>
          </a:prstGeom>
        </p:spPr>
        <p:txBody>
          <a:bodyPr anchor="t" rtlCol="false" tIns="0" lIns="0" bIns="0" rIns="0">
            <a:spAutoFit/>
          </a:bodyPr>
          <a:lstStyle/>
          <a:p>
            <a:pPr algn="ctr" marL="0" indent="0" lvl="0">
              <a:lnSpc>
                <a:spcPts val="8549"/>
              </a:lnSpc>
            </a:pPr>
            <a:r>
              <a:rPr lang="en-US" b="true" sz="7500">
                <a:solidFill>
                  <a:srgbClr val="FFFFFF"/>
                </a:solidFill>
                <a:latin typeface="Neo Tech Bold"/>
                <a:ea typeface="Neo Tech Bold"/>
                <a:cs typeface="Neo Tech Bold"/>
                <a:sym typeface="Neo Tech Bold"/>
              </a:rPr>
              <a:t>CONCLUSION</a:t>
            </a:r>
          </a:p>
        </p:txBody>
      </p:sp>
      <p:sp>
        <p:nvSpPr>
          <p:cNvPr name="TextBox 6" id="6"/>
          <p:cNvSpPr txBox="true"/>
          <p:nvPr/>
        </p:nvSpPr>
        <p:spPr>
          <a:xfrm rot="0">
            <a:off x="4813846" y="4315722"/>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Machine learning models can effectively assist in predicting stock prices by identifying patterns in historical data, providing valuable insights for investment decisions.</a:t>
            </a:r>
          </a:p>
        </p:txBody>
      </p:sp>
      <p:sp>
        <p:nvSpPr>
          <p:cNvPr name="TextBox 7" id="7"/>
          <p:cNvSpPr txBox="true"/>
          <p:nvPr/>
        </p:nvSpPr>
        <p:spPr>
          <a:xfrm rot="0">
            <a:off x="4813846" y="5856350"/>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Random Forest Regressor emerged as the best-performing model in this study, leveraging multiple decision trees to achieve superior accuracy and stable predictions.</a:t>
            </a:r>
          </a:p>
        </p:txBody>
      </p:sp>
      <p:sp>
        <p:nvSpPr>
          <p:cNvPr name="TextBox 8" id="8"/>
          <p:cNvSpPr txBox="true"/>
          <p:nvPr/>
        </p:nvSpPr>
        <p:spPr>
          <a:xfrm rot="0">
            <a:off x="4813846" y="7401685"/>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While predictions are useful for guidance, they cannot be perfectly accurate due to inherent market complexity, volatility, and unpredictable external factors.</a:t>
            </a:r>
          </a:p>
        </p:txBody>
      </p:sp>
      <p:sp>
        <p:nvSpPr>
          <p:cNvPr name="Freeform 9" id="9"/>
          <p:cNvSpPr/>
          <p:nvPr/>
        </p:nvSpPr>
        <p:spPr>
          <a:xfrm flipH="false" flipV="false" rot="0">
            <a:off x="3549979" y="6076887"/>
            <a:ext cx="853798" cy="834338"/>
          </a:xfrm>
          <a:custGeom>
            <a:avLst/>
            <a:gdLst/>
            <a:ahLst/>
            <a:cxnLst/>
            <a:rect r="r" b="b" t="t" l="l"/>
            <a:pathLst>
              <a:path h="834338" w="853798">
                <a:moveTo>
                  <a:pt x="0" y="0"/>
                </a:moveTo>
                <a:lnTo>
                  <a:pt x="853798" y="0"/>
                </a:lnTo>
                <a:lnTo>
                  <a:pt x="853798" y="834338"/>
                </a:lnTo>
                <a:lnTo>
                  <a:pt x="0" y="834338"/>
                </a:lnTo>
                <a:lnTo>
                  <a:pt x="0" y="0"/>
                </a:lnTo>
                <a:close/>
              </a:path>
            </a:pathLst>
          </a:custGeom>
          <a:blipFill>
            <a:blip r:embed="rId5"/>
            <a:stretch>
              <a:fillRect l="0" t="0" r="0" b="0"/>
            </a:stretch>
          </a:blipFill>
        </p:spPr>
      </p:sp>
      <p:sp>
        <p:nvSpPr>
          <p:cNvPr name="Freeform 10" id="10"/>
          <p:cNvSpPr/>
          <p:nvPr/>
        </p:nvSpPr>
        <p:spPr>
          <a:xfrm flipH="false" flipV="false" rot="0">
            <a:off x="3725975" y="7693326"/>
            <a:ext cx="670496" cy="670496"/>
          </a:xfrm>
          <a:custGeom>
            <a:avLst/>
            <a:gdLst/>
            <a:ahLst/>
            <a:cxnLst/>
            <a:rect r="r" b="b" t="t" l="l"/>
            <a:pathLst>
              <a:path h="670496" w="670496">
                <a:moveTo>
                  <a:pt x="0" y="0"/>
                </a:moveTo>
                <a:lnTo>
                  <a:pt x="670496" y="0"/>
                </a:lnTo>
                <a:lnTo>
                  <a:pt x="670496" y="670496"/>
                </a:lnTo>
                <a:lnTo>
                  <a:pt x="0" y="670496"/>
                </a:lnTo>
                <a:lnTo>
                  <a:pt x="0" y="0"/>
                </a:lnTo>
                <a:close/>
              </a:path>
            </a:pathLst>
          </a:custGeom>
          <a:blipFill>
            <a:blip r:embed="rId6"/>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5FC2"/>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7221231" y="1520888"/>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2384810" y="2397377"/>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641826" y="4508815"/>
            <a:ext cx="669750" cy="676896"/>
          </a:xfrm>
          <a:custGeom>
            <a:avLst/>
            <a:gdLst/>
            <a:ahLst/>
            <a:cxnLst/>
            <a:rect r="r" b="b" t="t" l="l"/>
            <a:pathLst>
              <a:path h="676896" w="669750">
                <a:moveTo>
                  <a:pt x="0" y="0"/>
                </a:moveTo>
                <a:lnTo>
                  <a:pt x="669749" y="0"/>
                </a:lnTo>
                <a:lnTo>
                  <a:pt x="669749" y="676896"/>
                </a:lnTo>
                <a:lnTo>
                  <a:pt x="0" y="676896"/>
                </a:lnTo>
                <a:lnTo>
                  <a:pt x="0" y="0"/>
                </a:lnTo>
                <a:close/>
              </a:path>
            </a:pathLst>
          </a:custGeom>
          <a:blipFill>
            <a:blip r:embed="rId4"/>
            <a:stretch>
              <a:fillRect l="0" t="0" r="0" b="0"/>
            </a:stretch>
          </a:blipFill>
        </p:spPr>
      </p:sp>
      <p:sp>
        <p:nvSpPr>
          <p:cNvPr name="TextBox 5" id="5"/>
          <p:cNvSpPr txBox="true"/>
          <p:nvPr/>
        </p:nvSpPr>
        <p:spPr>
          <a:xfrm rot="0">
            <a:off x="4336389" y="1587629"/>
            <a:ext cx="9615222" cy="1238250"/>
          </a:xfrm>
          <a:prstGeom prst="rect">
            <a:avLst/>
          </a:prstGeom>
        </p:spPr>
        <p:txBody>
          <a:bodyPr anchor="t" rtlCol="false" tIns="0" lIns="0" bIns="0" rIns="0">
            <a:spAutoFit/>
          </a:bodyPr>
          <a:lstStyle/>
          <a:p>
            <a:pPr algn="ctr" marL="0" indent="0" lvl="0">
              <a:lnSpc>
                <a:spcPts val="8549"/>
              </a:lnSpc>
            </a:pPr>
            <a:r>
              <a:rPr lang="en-US" b="true" sz="7500">
                <a:solidFill>
                  <a:srgbClr val="FFFFFF"/>
                </a:solidFill>
                <a:latin typeface="Neo Tech Bold"/>
                <a:ea typeface="Neo Tech Bold"/>
                <a:cs typeface="Neo Tech Bold"/>
                <a:sym typeface="Neo Tech Bold"/>
              </a:rPr>
              <a:t>FUTURE SCOPE</a:t>
            </a:r>
          </a:p>
        </p:txBody>
      </p:sp>
      <p:sp>
        <p:nvSpPr>
          <p:cNvPr name="TextBox 6" id="6"/>
          <p:cNvSpPr txBox="true"/>
          <p:nvPr/>
        </p:nvSpPr>
        <p:spPr>
          <a:xfrm rot="0">
            <a:off x="4813846" y="4296672"/>
            <a:ext cx="10580784" cy="1153568"/>
          </a:xfrm>
          <a:prstGeom prst="rect">
            <a:avLst/>
          </a:prstGeom>
        </p:spPr>
        <p:txBody>
          <a:bodyPr anchor="t" rtlCol="false" tIns="0" lIns="0" bIns="0" rIns="0">
            <a:spAutoFit/>
          </a:bodyPr>
          <a:lstStyle/>
          <a:p>
            <a:pPr algn="l" marL="0" indent="0" lvl="0">
              <a:lnSpc>
                <a:spcPts val="3005"/>
              </a:lnSpc>
            </a:pPr>
            <a:r>
              <a:rPr lang="en-US" sz="2636">
                <a:solidFill>
                  <a:srgbClr val="FFFFFF"/>
                </a:solidFill>
                <a:latin typeface="Koho"/>
                <a:ea typeface="Koho"/>
                <a:cs typeface="Koho"/>
                <a:sym typeface="Koho"/>
              </a:rPr>
              <a:t>Explore Deep Learning approaches like LSTM (Long Short-Term Memory) networks, which are specifically designed to handle sequential time-series data and can capture long-term dependencies in stock price patterns.</a:t>
            </a:r>
          </a:p>
        </p:txBody>
      </p:sp>
      <p:sp>
        <p:nvSpPr>
          <p:cNvPr name="TextBox 7" id="7"/>
          <p:cNvSpPr txBox="true"/>
          <p:nvPr/>
        </p:nvSpPr>
        <p:spPr>
          <a:xfrm rot="0">
            <a:off x="4813846" y="5837300"/>
            <a:ext cx="10580784" cy="1153568"/>
          </a:xfrm>
          <a:prstGeom prst="rect">
            <a:avLst/>
          </a:prstGeom>
        </p:spPr>
        <p:txBody>
          <a:bodyPr anchor="t" rtlCol="false" tIns="0" lIns="0" bIns="0" rIns="0">
            <a:spAutoFit/>
          </a:bodyPr>
          <a:lstStyle/>
          <a:p>
            <a:pPr algn="l" marL="0" indent="0" lvl="0">
              <a:lnSpc>
                <a:spcPts val="3005"/>
              </a:lnSpc>
            </a:pPr>
            <a:r>
              <a:rPr lang="en-US" sz="2636">
                <a:solidFill>
                  <a:srgbClr val="FFFFFF"/>
                </a:solidFill>
                <a:latin typeface="Koho"/>
                <a:ea typeface="Koho"/>
                <a:cs typeface="Koho"/>
                <a:sym typeface="Koho"/>
              </a:rPr>
              <a:t>Implement real-time stock price prediction systems that can process live market data, enabling investors to receive instant predictions and make timely trading decisions based on current market conditions.</a:t>
            </a:r>
          </a:p>
        </p:txBody>
      </p:sp>
      <p:sp>
        <p:nvSpPr>
          <p:cNvPr name="TextBox 8" id="8"/>
          <p:cNvSpPr txBox="true"/>
          <p:nvPr/>
        </p:nvSpPr>
        <p:spPr>
          <a:xfrm rot="0">
            <a:off x="4813846" y="7382635"/>
            <a:ext cx="10580784" cy="1153568"/>
          </a:xfrm>
          <a:prstGeom prst="rect">
            <a:avLst/>
          </a:prstGeom>
        </p:spPr>
        <p:txBody>
          <a:bodyPr anchor="t" rtlCol="false" tIns="0" lIns="0" bIns="0" rIns="0">
            <a:spAutoFit/>
          </a:bodyPr>
          <a:lstStyle/>
          <a:p>
            <a:pPr algn="l" marL="0" indent="0" lvl="0">
              <a:lnSpc>
                <a:spcPts val="3005"/>
              </a:lnSpc>
            </a:pPr>
            <a:r>
              <a:rPr lang="en-US" sz="2636">
                <a:solidFill>
                  <a:srgbClr val="FFFFFF"/>
                </a:solidFill>
                <a:latin typeface="Koho"/>
                <a:ea typeface="Koho"/>
                <a:cs typeface="Koho"/>
                <a:sym typeface="Koho"/>
              </a:rPr>
              <a:t>Incorporate news sentiment analysis to enrich the prediction model with external factors such as financial news, social media trends, and market sentiment, providing a more comprehensive view of market dynamics.</a:t>
            </a:r>
          </a:p>
        </p:txBody>
      </p:sp>
      <p:sp>
        <p:nvSpPr>
          <p:cNvPr name="Freeform 9" id="9"/>
          <p:cNvSpPr/>
          <p:nvPr/>
        </p:nvSpPr>
        <p:spPr>
          <a:xfrm flipH="false" flipV="false" rot="0">
            <a:off x="3611328" y="6028086"/>
            <a:ext cx="726570" cy="724733"/>
          </a:xfrm>
          <a:custGeom>
            <a:avLst/>
            <a:gdLst/>
            <a:ahLst/>
            <a:cxnLst/>
            <a:rect r="r" b="b" t="t" l="l"/>
            <a:pathLst>
              <a:path h="724733" w="726570">
                <a:moveTo>
                  <a:pt x="0" y="0"/>
                </a:moveTo>
                <a:lnTo>
                  <a:pt x="726569" y="0"/>
                </a:lnTo>
                <a:lnTo>
                  <a:pt x="726569" y="724733"/>
                </a:lnTo>
                <a:lnTo>
                  <a:pt x="0" y="724733"/>
                </a:lnTo>
                <a:lnTo>
                  <a:pt x="0" y="0"/>
                </a:lnTo>
                <a:close/>
              </a:path>
            </a:pathLst>
          </a:custGeom>
          <a:blipFill>
            <a:blip r:embed="rId5"/>
            <a:stretch>
              <a:fillRect l="0" t="0" r="0" b="0"/>
            </a:stretch>
          </a:blipFill>
        </p:spPr>
      </p:sp>
      <p:sp>
        <p:nvSpPr>
          <p:cNvPr name="Freeform 10" id="10"/>
          <p:cNvSpPr/>
          <p:nvPr/>
        </p:nvSpPr>
        <p:spPr>
          <a:xfrm flipH="false" flipV="false" rot="0">
            <a:off x="3725539" y="7696247"/>
            <a:ext cx="671113" cy="664402"/>
          </a:xfrm>
          <a:custGeom>
            <a:avLst/>
            <a:gdLst/>
            <a:ahLst/>
            <a:cxnLst/>
            <a:rect r="r" b="b" t="t" l="l"/>
            <a:pathLst>
              <a:path h="664402" w="671113">
                <a:moveTo>
                  <a:pt x="0" y="0"/>
                </a:moveTo>
                <a:lnTo>
                  <a:pt x="671113" y="0"/>
                </a:lnTo>
                <a:lnTo>
                  <a:pt x="671113" y="664402"/>
                </a:lnTo>
                <a:lnTo>
                  <a:pt x="0" y="664402"/>
                </a:lnTo>
                <a:lnTo>
                  <a:pt x="0" y="0"/>
                </a:lnTo>
                <a:close/>
              </a:path>
            </a:pathLst>
          </a:custGeom>
          <a:blipFill>
            <a:blip r:embed="rId6"/>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222833" y="3629195"/>
            <a:ext cx="9842334" cy="2086620"/>
          </a:xfrm>
          <a:prstGeom prst="rect">
            <a:avLst/>
          </a:prstGeom>
        </p:spPr>
        <p:txBody>
          <a:bodyPr anchor="t" rtlCol="false" tIns="0" lIns="0" bIns="0" rIns="0">
            <a:spAutoFit/>
          </a:bodyPr>
          <a:lstStyle/>
          <a:p>
            <a:pPr algn="ctr" marL="0" indent="0" lvl="0">
              <a:lnSpc>
                <a:spcPts val="14361"/>
              </a:lnSpc>
            </a:pPr>
            <a:r>
              <a:rPr lang="en-US" b="true" sz="12597">
                <a:solidFill>
                  <a:srgbClr val="005FC2"/>
                </a:solidFill>
                <a:latin typeface="Neo Tech Bold"/>
                <a:ea typeface="Neo Tech Bold"/>
                <a:cs typeface="Neo Tech Bold"/>
                <a:sym typeface="Neo Tech Bold"/>
              </a:rPr>
              <a:t>THANK YOU</a:t>
            </a:r>
          </a:p>
        </p:txBody>
      </p:sp>
      <p:sp>
        <p:nvSpPr>
          <p:cNvPr name="Freeform 3" id="3"/>
          <p:cNvSpPr/>
          <p:nvPr/>
        </p:nvSpPr>
        <p:spPr>
          <a:xfrm flipH="true" flipV="false" rot="0">
            <a:off x="13499617" y="-3375063"/>
            <a:ext cx="7161170" cy="10230243"/>
          </a:xfrm>
          <a:custGeom>
            <a:avLst/>
            <a:gdLst/>
            <a:ahLst/>
            <a:cxnLst/>
            <a:rect r="r" b="b" t="t" l="l"/>
            <a:pathLst>
              <a:path h="10230243" w="7161170">
                <a:moveTo>
                  <a:pt x="7161170" y="0"/>
                </a:moveTo>
                <a:lnTo>
                  <a:pt x="0" y="0"/>
                </a:lnTo>
                <a:lnTo>
                  <a:pt x="0" y="10230242"/>
                </a:lnTo>
                <a:lnTo>
                  <a:pt x="7161170" y="10230242"/>
                </a:lnTo>
                <a:lnTo>
                  <a:pt x="716117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961309" y="5401099"/>
            <a:ext cx="8365383" cy="630547"/>
          </a:xfrm>
          <a:prstGeom prst="rect">
            <a:avLst/>
          </a:prstGeom>
        </p:spPr>
        <p:txBody>
          <a:bodyPr anchor="t" rtlCol="false" tIns="0" lIns="0" bIns="0" rIns="0">
            <a:spAutoFit/>
          </a:bodyPr>
          <a:lstStyle/>
          <a:p>
            <a:pPr algn="ctr" marL="0" indent="0" lvl="0">
              <a:lnSpc>
                <a:spcPts val="2510"/>
              </a:lnSpc>
            </a:pPr>
            <a:r>
              <a:rPr lang="en-US" b="true" sz="2202">
                <a:solidFill>
                  <a:srgbClr val="005FC2"/>
                </a:solidFill>
                <a:latin typeface="Koho Bold"/>
                <a:ea typeface="Koho Bold"/>
                <a:cs typeface="Koho Bold"/>
                <a:sym typeface="Koho Bold"/>
              </a:rPr>
              <a:t>Questions &amp; Discussion Welcome</a:t>
            </a:r>
          </a:p>
          <a:p>
            <a:pPr algn="ctr" marL="0" indent="0" lvl="0">
              <a:lnSpc>
                <a:spcPts val="2510"/>
              </a:lnSpc>
            </a:pPr>
            <a:r>
              <a:rPr lang="en-US" b="true" sz="2202">
                <a:solidFill>
                  <a:srgbClr val="005FC2"/>
                </a:solidFill>
                <a:latin typeface="Koho Bold"/>
                <a:ea typeface="Koho Bold"/>
                <a:cs typeface="Koho Bold"/>
                <a:sym typeface="Koho Bold"/>
              </a:rPr>
              <a:t>MCA Project — Stock Market Prediction Using ML</a:t>
            </a:r>
          </a:p>
        </p:txBody>
      </p:sp>
      <p:sp>
        <p:nvSpPr>
          <p:cNvPr name="Freeform 5" id="5"/>
          <p:cNvSpPr/>
          <p:nvPr/>
        </p:nvSpPr>
        <p:spPr>
          <a:xfrm flipH="false" flipV="true" rot="-151067">
            <a:off x="-1812924" y="4400378"/>
            <a:ext cx="7161170" cy="10230243"/>
          </a:xfrm>
          <a:custGeom>
            <a:avLst/>
            <a:gdLst/>
            <a:ahLst/>
            <a:cxnLst/>
            <a:rect r="r" b="b" t="t" l="l"/>
            <a:pathLst>
              <a:path h="10230243" w="7161170">
                <a:moveTo>
                  <a:pt x="0" y="10230242"/>
                </a:moveTo>
                <a:lnTo>
                  <a:pt x="7161170" y="10230242"/>
                </a:lnTo>
                <a:lnTo>
                  <a:pt x="7161170" y="0"/>
                </a:lnTo>
                <a:lnTo>
                  <a:pt x="0" y="0"/>
                </a:lnTo>
                <a:lnTo>
                  <a:pt x="0" y="1023024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25238" y="-1294162"/>
            <a:ext cx="7793442" cy="4080930"/>
          </a:xfrm>
          <a:custGeom>
            <a:avLst/>
            <a:gdLst/>
            <a:ahLst/>
            <a:cxnLst/>
            <a:rect r="r" b="b" t="t" l="l"/>
            <a:pathLst>
              <a:path h="4080930" w="7793442">
                <a:moveTo>
                  <a:pt x="0" y="0"/>
                </a:moveTo>
                <a:lnTo>
                  <a:pt x="7793442" y="0"/>
                </a:lnTo>
                <a:lnTo>
                  <a:pt x="7793442" y="4080930"/>
                </a:lnTo>
                <a:lnTo>
                  <a:pt x="0" y="4080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494558" y="7817332"/>
            <a:ext cx="7793442" cy="4080930"/>
          </a:xfrm>
          <a:custGeom>
            <a:avLst/>
            <a:gdLst/>
            <a:ahLst/>
            <a:cxnLst/>
            <a:rect r="r" b="b" t="t" l="l"/>
            <a:pathLst>
              <a:path h="4080930" w="7793442">
                <a:moveTo>
                  <a:pt x="0" y="0"/>
                </a:moveTo>
                <a:lnTo>
                  <a:pt x="7793442" y="0"/>
                </a:lnTo>
                <a:lnTo>
                  <a:pt x="7793442" y="4080930"/>
                </a:lnTo>
                <a:lnTo>
                  <a:pt x="0" y="4080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DAHGXssD99A</dc:identifier>
  <dcterms:modified xsi:type="dcterms:W3CDTF">2011-08-01T06:04:30Z</dcterms:modified>
  <cp:revision>1</cp:revision>
  <dc:title>Stock Market Prediction with ML: Reliance Analysis (2020–2024)</dc:title>
</cp:coreProperties>
</file>